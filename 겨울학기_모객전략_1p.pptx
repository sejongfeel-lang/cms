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겨울학기 모객 전략" id="{595c3470-f631-6d10-337f-2f6bff2ea07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4Q Items통합 B열 확정 아이템을 퍼널 3단계(인지·DB → 체험·관계 → 응시·등록)로 재배치하고, 각 아이템의 대상·방식, 모객 연결, 예산 항목을 정리. 예산 금액은 시트에 기재되어 있지 않아 담당자 기입 필요. 오른쪽은 12월 모객 로드맵에서 도출한 추가 제안.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56032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56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겨울학기 모객 전략안</a:t>
            </a:r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 4Q 확정 아이템 실행 방향 + 추가 제안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256032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10/7(수) 11:00 대회의실 · 마케팅팀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68096"/>
            <a:ext cx="11457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핵심 방향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10월 인지·DB 확보 → 11월 체험·관계 형성 → 12월 입테 응시·등록 전환 — 모든 아이템의 DB를 하나의 퍼널로 연결</a:t>
            </a:r>
            <a:endParaRPr lang="en-US" sz="1050" dirty="0"/>
          </a:p>
        </p:txBody>
      </p:sp>
      <p:sp>
        <p:nvSpPr>
          <p:cNvPr id="5" name="timeline-10월"/>
          <p:cNvSpPr/>
          <p:nvPr/>
        </p:nvSpPr>
        <p:spPr>
          <a:xfrm>
            <a:off x="548640" y="1499616"/>
            <a:ext cx="3732561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3504" y="149961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10월</a:t>
            </a:r>
            <a:endParaRPr lang="en-US" sz="850" dirty="0"/>
          </a:p>
        </p:txBody>
      </p:sp>
      <p:sp>
        <p:nvSpPr>
          <p:cNvPr id="7" name="timeline-11월"/>
          <p:cNvSpPr/>
          <p:nvPr/>
        </p:nvSpPr>
        <p:spPr>
          <a:xfrm>
            <a:off x="4317777" y="1499616"/>
            <a:ext cx="3610976" cy="18288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72641" y="149961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11월</a:t>
            </a:r>
            <a:endParaRPr lang="en-US" sz="850" dirty="0"/>
          </a:p>
        </p:txBody>
      </p:sp>
      <p:sp>
        <p:nvSpPr>
          <p:cNvPr id="9" name="timeline-12월"/>
          <p:cNvSpPr/>
          <p:nvPr/>
        </p:nvSpPr>
        <p:spPr>
          <a:xfrm>
            <a:off x="7965328" y="1499616"/>
            <a:ext cx="3732561" cy="18288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20192" y="149961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12월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01701" y="1536192"/>
            <a:ext cx="109728" cy="10972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6565" y="1371600"/>
            <a:ext cx="0" cy="12801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9989" y="1161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10/6 예산 확정·현장마케팅 취합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5477" y="1536192"/>
            <a:ext cx="109728" cy="10972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80341" y="1682496"/>
            <a:ext cx="0" cy="12801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43765" y="1810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10/21 메타광고·에듀토크 DM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33402" y="1536192"/>
            <a:ext cx="109728" cy="10972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88266" y="1371600"/>
            <a:ext cx="0" cy="12801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51690" y="1161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10/26 카페·체험수업 게시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27668" y="1536192"/>
            <a:ext cx="109728" cy="10972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2532" y="1682496"/>
            <a:ext cx="0" cy="12801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45956" y="18105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11/4 에듀토크 방송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35593" y="1536192"/>
            <a:ext cx="109728" cy="10972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90457" y="1371600"/>
            <a:ext cx="0" cy="12801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53881" y="1161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11/9 친구추천 오픈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43518" y="1536192"/>
            <a:ext cx="109728" cy="10972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8382" y="1682496"/>
            <a:ext cx="0" cy="12801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61806" y="1810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11/14 KMO 2차 현장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73029" y="1536192"/>
            <a:ext cx="109728" cy="10972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7893" y="1371600"/>
            <a:ext cx="0" cy="12801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91317" y="11612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11/20 체험수업 신청 마감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75220" y="1536192"/>
            <a:ext cx="109728" cy="10972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30084" y="1682496"/>
            <a:ext cx="0" cy="12801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93508" y="1810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12/4 친구추천 종료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883145" y="1536192"/>
            <a:ext cx="109728" cy="10972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38009" y="1371600"/>
            <a:ext cx="0" cy="12801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901433" y="1161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12/2주 입테 · 12/11 리워드 지급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977410" y="1536192"/>
            <a:ext cx="109728" cy="10972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32274" y="1682496"/>
            <a:ext cx="0" cy="128016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995698" y="1810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12/18 현장마케팅 정산</a:t>
            </a:r>
            <a:endParaRPr lang="en-US" sz="850" dirty="0"/>
          </a:p>
        </p:txBody>
      </p:sp>
      <p:sp>
        <p:nvSpPr>
          <p:cNvPr id="41" name="col-① 인지·DB 확보"/>
          <p:cNvSpPr/>
          <p:nvPr/>
        </p:nvSpPr>
        <p:spPr>
          <a:xfrm>
            <a:off x="365760" y="2121408"/>
            <a:ext cx="2468880" cy="3639312"/>
          </a:xfrm>
          <a:prstGeom prst="rect">
            <a:avLst/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5760" y="2121408"/>
            <a:ext cx="246888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7200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① 인지·DB 확보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10월~11월 초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2542032"/>
            <a:ext cx="228600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chemeClr val="tx2"/>
                </a:solidFill>
              </a:rPr>
              <a:t>에듀토크 (이병훈TV 라이브)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최세종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학부모 입시 토크 라이브 11/4 · 특전·설문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1"/>
                </a:solidFill>
              </a:rPr>
              <a:t>→ 랜딩 DB → DM D-14/D-7 → 인뎁스·체험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특전 제작·채널 홍보비</a:t>
            </a:r>
            <a:endParaRPr lang="en-US" sz="900" dirty="0"/>
          </a:p>
          <a:p>
            <a:pPr indent="0" marL="0">
              <a:lnSpc>
                <a:spcPct val="98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chemeClr val="tx2"/>
                </a:solidFill>
              </a:rPr>
              <a:t>메타(인스타) 광고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최유나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학부모 타깃 광고 · 앰플랜잇 대행 · 10/21~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1"/>
                </a:solidFill>
              </a:rPr>
              <a:t>→ 랜딩 신청폼 DB → 24h 효율 점검·개선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광고비 + 대행 수수료</a:t>
            </a:r>
            <a:endParaRPr lang="en-US" sz="900" dirty="0"/>
          </a:p>
          <a:p>
            <a:pPr indent="0" marL="0">
              <a:lnSpc>
                <a:spcPct val="98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chemeClr val="tx2"/>
                </a:solidFill>
              </a:rPr>
              <a:t>인플루언서 마케팅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최유나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셀러 포스팅 + 특전자료 다운로드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1"/>
                </a:solidFill>
              </a:rPr>
              <a:t>→ DB 폼·자동 메시지 → 입테 응시 리워드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에이전시비·리워드·교재 발송</a:t>
            </a:r>
            <a:endParaRPr lang="en-US" sz="900" dirty="0"/>
          </a:p>
          <a:p>
            <a:pPr indent="0" marL="0">
              <a:lnSpc>
                <a:spcPct val="98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chemeClr val="tx2"/>
                </a:solidFill>
              </a:rPr>
              <a:t>당근마켓 · 네이버 카페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석다혜/이미현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맘카페·당근에 에듀토크·체험수업 노출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1"/>
                </a:solidFill>
              </a:rPr>
              <a:t>→ 체험수업 신청폼 DB (카페글 10/26)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카페 집행비·당근 광고비</a:t>
            </a:r>
            <a:endParaRPr lang="en-US" sz="900" dirty="0"/>
          </a:p>
          <a:p>
            <a:pPr indent="0" marL="0">
              <a:lnSpc>
                <a:spcPct val="98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chemeClr val="tx2"/>
                </a:solidFill>
              </a:rPr>
              <a:t>KMO 2차 · 자사고 설명회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김새미/홍혜숙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판촉물 + 진학 가이드 QR 특전 배포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1"/>
                </a:solidFill>
              </a:rPr>
              <a:t>→ QR 유입 DB → 알림톡 리타깃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판촉물·배포 인력·배송</a:t>
            </a:r>
            <a:endParaRPr lang="en-US" sz="900" dirty="0"/>
          </a:p>
        </p:txBody>
      </p:sp>
      <p:sp>
        <p:nvSpPr>
          <p:cNvPr id="45" name="col-② 체험·관계 형성"/>
          <p:cNvSpPr/>
          <p:nvPr/>
        </p:nvSpPr>
        <p:spPr>
          <a:xfrm>
            <a:off x="2944368" y="2121408"/>
            <a:ext cx="2468880" cy="3639312"/>
          </a:xfrm>
          <a:prstGeom prst="rect">
            <a:avLst/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46" name="Shape 44"/>
          <p:cNvSpPr/>
          <p:nvPr/>
        </p:nvSpPr>
        <p:spPr>
          <a:xfrm>
            <a:off x="2944368" y="2121408"/>
            <a:ext cx="2468880" cy="347472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035808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② 체험·관계 형성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10월 말~11월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3035808" y="2542032"/>
            <a:ext cx="228600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chemeClr val="tx2"/>
                </a:solidFill>
              </a:rPr>
              <a:t>인뎁스 세미나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석다혜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센터별 학부모 세미나 · 발표자료 10/29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2"/>
                </a:solidFill>
              </a:rPr>
              <a:t>→ 센터 블로그 10/23 → 현장 입테 예약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홍보 이미지·센터 운영비</a:t>
            </a:r>
            <a:endParaRPr lang="en-US" sz="900" dirty="0"/>
          </a:p>
          <a:p>
            <a:pPr indent="0" marL="0">
              <a:lnSpc>
                <a:spcPct val="98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chemeClr val="tx2"/>
                </a:solidFill>
              </a:rPr>
              <a:t>아샘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이미현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초·중 진행 방식 10/6 · 자료 개발 10/20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2"/>
                </a:solidFill>
              </a:rPr>
              <a:t>→ 블로그 홍보 → 참석자 상담·입테 예약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자료 제작비</a:t>
            </a:r>
            <a:endParaRPr lang="en-US" sz="900" dirty="0"/>
          </a:p>
          <a:p>
            <a:pPr indent="0" marL="0">
              <a:lnSpc>
                <a:spcPct val="98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chemeClr val="tx2"/>
                </a:solidFill>
              </a:rPr>
              <a:t>FIT · MATHMILE 체험수업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석다혜/이미현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매쏠로지2 체험계정 · 초등 기프트 특전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2"/>
                </a:solidFill>
              </a:rPr>
              <a:t>→ 랜딩·카페 신청 → 11/20까지 관리 → 등록 상담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기프트·활동지·체험계정</a:t>
            </a:r>
            <a:endParaRPr lang="en-US" sz="900" dirty="0"/>
          </a:p>
          <a:p>
            <a:pPr indent="0" marL="0">
              <a:lnSpc>
                <a:spcPct val="98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chemeClr val="tx2"/>
                </a:solidFill>
              </a:rPr>
              <a:t>[특사모] 자사고 면접 컨설팅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홍혜숙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자사고 지원 예비 고1 면접 컨설팅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2"/>
                </a:solidFill>
              </a:rPr>
              <a:t>→ 참여자 → 겨울학기 특목·자사 과정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별도 마스터시트 기준</a:t>
            </a:r>
            <a:endParaRPr lang="en-US" sz="900" dirty="0"/>
          </a:p>
        </p:txBody>
      </p:sp>
      <p:sp>
        <p:nvSpPr>
          <p:cNvPr id="49" name="col-③ 응시·등록 전환"/>
          <p:cNvSpPr/>
          <p:nvPr/>
        </p:nvSpPr>
        <p:spPr>
          <a:xfrm>
            <a:off x="5522976" y="2121408"/>
            <a:ext cx="2468880" cy="3639312"/>
          </a:xfrm>
          <a:prstGeom prst="rect">
            <a:avLst/>
          </a:prstGeom>
          <a:solidFill>
            <a:schemeClr val="accent3">
              <a:alpha val="8000"/>
            </a:scheme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22976" y="2121408"/>
            <a:ext cx="2468880" cy="347472"/>
          </a:xfrm>
          <a:prstGeom prst="roundRect">
            <a:avLst>
              <a:gd name="adj" fmla="val 15789"/>
            </a:avLst>
          </a:prstGeom>
          <a:solidFill>
            <a:schemeClr val="accent3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614416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③ 응시·등록 전환</a:t>
            </a:r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  11월~12월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614416" y="2542032"/>
            <a:ext cx="228600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chemeClr val="tx2"/>
                </a:solidFill>
              </a:rPr>
              <a:t>교과 프로그램 홍보 알림톡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이미현/석다혜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FIT·PL / GS·MATHMILE 문안 11/3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3"/>
                </a:solidFill>
              </a:rPr>
              <a:t>→ 보유 DB → 입테 예약·등록 (발송 김새미)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알림톡 발송비</a:t>
            </a:r>
            <a:endParaRPr lang="en-US" sz="900" dirty="0"/>
          </a:p>
          <a:p>
            <a:pPr indent="0" marL="0">
              <a:lnSpc>
                <a:spcPct val="98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chemeClr val="tx2"/>
                </a:solidFill>
              </a:rPr>
              <a:t>친구추천 이벤트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이로은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재원생 추천 11/9~12/4 (CMS 공통)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3"/>
                </a:solidFill>
              </a:rPr>
              <a:t>→ 지인 입테 예약 → 리워드 12/11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경품·리워드</a:t>
            </a:r>
            <a:endParaRPr lang="en-US" sz="900" dirty="0"/>
          </a:p>
          <a:p>
            <a:pPr indent="0" marL="0">
              <a:lnSpc>
                <a:spcPct val="98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chemeClr val="tx2"/>
                </a:solidFill>
              </a:rPr>
              <a:t>수강후기 프로모션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최유나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재원생 후기 이벤트 10/20~11/15(안)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3"/>
                </a:solidFill>
              </a:rPr>
              <a:t>→ 후기 → 광고·카페·블로그 신뢰 소재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경품</a:t>
            </a:r>
            <a:endParaRPr lang="en-US" sz="900" dirty="0"/>
          </a:p>
          <a:p>
            <a:pPr indent="0" marL="0">
              <a:lnSpc>
                <a:spcPct val="98000"/>
              </a:lnSpc>
              <a:spcBef>
                <a:spcPts val="700"/>
              </a:spcBef>
              <a:buNone/>
            </a:pPr>
            <a:r>
              <a:rPr lang="en-US" sz="950" b="1" dirty="0">
                <a:solidFill>
                  <a:schemeClr val="tx2"/>
                </a:solidFill>
              </a:rPr>
              <a:t>현장 주도 마케팅 지원</a:t>
            </a:r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  최유나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chemeClr val="tx1"/>
                </a:solidFill>
              </a:rPr>
              <a:t>센터 BM 제안 취합 → 10/14 결정 공지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chemeClr val="accent3"/>
                </a:solidFill>
              </a:rPr>
              <a:t>→ 센터별 지역 맞춤 모객 → 정산 12/18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chemeClr val="accent5"/>
                </a:solidFill>
              </a:rPr>
              <a:t>예산 · 센터별 승인액</a:t>
            </a:r>
            <a:endParaRPr lang="en-US" sz="900" dirty="0"/>
          </a:p>
        </p:txBody>
      </p:sp>
      <p:sp>
        <p:nvSpPr>
          <p:cNvPr id="53" name="proposal-panel"/>
          <p:cNvSpPr/>
          <p:nvPr/>
        </p:nvSpPr>
        <p:spPr>
          <a:xfrm>
            <a:off x="8156448" y="2121408"/>
            <a:ext cx="3666744" cy="3639312"/>
          </a:xfrm>
          <a:prstGeom prst="roundRect">
            <a:avLst>
              <a:gd name="adj" fmla="val 1508"/>
            </a:avLst>
          </a:prstGeom>
          <a:solidFill>
            <a:schemeClr val="tx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293608" y="2121408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✚ 추가 모객 전략 제안</a:t>
            </a:r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  12월 모객 로드맵 기반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8293608" y="2560320"/>
            <a:ext cx="3392424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A. 입학테스트 통합 퍼널·CRM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DCE3EE"/>
                </a:solidFill>
              </a:rPr>
              <a:t>자사고 모객 허브의 퍼널·CRM 구조를 이식 → 전 아이템 DB를 예약→응시→등록 단계로 통합 추적</a:t>
            </a:r>
            <a:endParaRPr lang="en-US" sz="9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B. 노쇼·이탈 방지 자동 알림톡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DCE3EE"/>
                </a:solidFill>
              </a:rPr>
              <a:t>입테 D-14/7/3/1 리마인더 + 결과 통보 후 24~48h 골든타임 상담콜</a:t>
            </a:r>
            <a:endParaRPr lang="en-US" sz="9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C. 아웃바운드 콜 스코어링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DCE3EE"/>
                </a:solidFill>
              </a:rPr>
              <a:t>미전환 DB 우선순위 자동 산출 → 알림톡 예열 → 표준 스크립트 콜 → CRM 기록</a:t>
            </a:r>
            <a:endParaRPr lang="en-US" sz="9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D. AI 모의면접 체험 이벤트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DCE3EE"/>
                </a:solidFill>
              </a:rPr>
              <a:t>특목고 면접대비 웹앱을 리드마그넷으로 개방 (특사모·자사고 설명회 연계)</a:t>
            </a:r>
            <a:endParaRPr lang="en-US" sz="9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E. 추천·신뢰 강화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DCE3EE"/>
                </a:solidFill>
              </a:rPr>
              <a:t>형제·자매 혜택을 친구추천에 결합 · 네이버 플레이스 리뷰 캠페인(수강후기 연계)</a:t>
            </a:r>
            <a:endParaRPr lang="en-US" sz="9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b="1" dirty="0">
                <a:solidFill>
                  <a:srgbClr val="FFFFFF"/>
                </a:solidFill>
              </a:rPr>
              <a:t>F. 데이터 기반 타깃·콘텐츠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DCE3EE"/>
                </a:solidFill>
              </a:rPr>
              <a:t>지역경쟁분석 우선 세그먼트로 메타·당근 타깃 설정 · Montelena 여론 데이터로 시기별 콘텐츠 초안</a:t>
            </a:r>
            <a:endParaRPr lang="en-US" sz="900" dirty="0"/>
          </a:p>
        </p:txBody>
      </p:sp>
      <p:sp>
        <p:nvSpPr>
          <p:cNvPr id="56" name="decisions"/>
          <p:cNvSpPr/>
          <p:nvPr/>
        </p:nvSpPr>
        <p:spPr>
          <a:xfrm>
            <a:off x="365760" y="5888736"/>
            <a:ext cx="11457432" cy="548640"/>
          </a:xfrm>
          <a:prstGeom prst="roundRect">
            <a:avLst>
              <a:gd name="adj" fmla="val 10000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02920" y="58887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회의 결정 필요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691640" y="5888736"/>
            <a:ext cx="10012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① 12월 입학테스트 일정·회차 및 센터별 목표(예약/응시/등록)   ② 아이템별 예산 금액 기입·합계   ③ 인뎁스·입학테스트 공통 예약폼 여부   ④ 당근마켓 품의 에듀토크 통합 여부   ⑤ 신규 알림톡 템플릿 카카오 심사(1~2영업일) 일정 반영   ⑥ 추가 제안(A~F) 채택·담당 지정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365760" y="649224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출처: CMS MKT | 2026 4Q · [4Q] Items통합 B~H열(10/6 기준) / 12월 모객 로드맵(9/9, Claude Code 작업) · 예산은 항목만 표기, 금액은 담당자 기입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MS Winter">
  <a:themeElements>
    <a:clrScheme name="CMS Winter">
      <a:dk1>
        <a:srgbClr val="1B2130"/>
      </a:dk1>
      <a:lt1>
        <a:srgbClr val="FFFFFF"/>
      </a:lt1>
      <a:dk2>
        <a:srgbClr val="1F2A44"/>
      </a:dk2>
      <a:lt2>
        <a:srgbClr val="EEF1F5"/>
      </a:lt2>
      <a:accent1>
        <a:srgbClr val="2A7A72"/>
      </a:accent1>
      <a:accent2>
        <a:srgbClr val="A8640F"/>
      </a:accent2>
      <a:accent3>
        <a:srgbClr val="8A3F5C"/>
      </a:accent3>
      <a:accent4>
        <a:srgbClr val="3C5A91"/>
      </a:accent4>
      <a:accent5>
        <a:srgbClr val="5B6472"/>
      </a:accent5>
      <a:accent6>
        <a:srgbClr val="C8553D"/>
      </a:accent6>
      <a:hlink>
        <a:srgbClr val="3C5A91"/>
      </a:hlink>
      <a:folHlink>
        <a:srgbClr val="8A3F5C"/>
      </a:folHlink>
    </a:clrScheme>
    <a:fontScheme name="CMS Winte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겨울학기 모객 전략안</dc:title>
  <dc:subject>PptxGenJS Presentation</dc:subject>
  <dc:creator>PptxGenJS</dc:creator>
  <cp:lastModifiedBy>PptxGenJS</cp:lastModifiedBy>
  <cp:revision>1</cp:revision>
  <dcterms:created xsi:type="dcterms:W3CDTF">2026-10-06T08:41:23Z</dcterms:created>
  <dcterms:modified xsi:type="dcterms:W3CDTF">2026-10-06T08:41:23Z</dcterms:modified>
</cp:coreProperties>
</file>