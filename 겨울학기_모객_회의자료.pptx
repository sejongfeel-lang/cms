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현황" id="{a3ff4b3b-6ea9-91de-d1e2-caf8231b10d3}">
          <p14:sldIdLst>
            <p14:sldId id="256"/>
          </p14:sldIdLst>
        </p14:section>
        <p14:section name="허브 구축" id="{7519493b-7729-0311-a3e3-09cc17f45c66}">
          <p14:sldIdLst>
            <p14:sldId id="257"/>
          </p14:sldIdLst>
        </p14:section>
        <p14:section name="에듀토크" id="{1aada93e-46c7-de59-6b91-464fb87bd4a4}">
          <p14:sldIdLst>
            <p14:sldId id="258"/>
          </p14:sldIdLst>
        </p14:section>
        <p14:section name="에듀토크 상세" id="{d0fc8aa1-afbc-69b2-1c79-210366073bed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완료</c:v>
                </c:pt>
              </c:strCache>
            </c:strRef>
          </c:tx>
          <c:spPr>
            <a:solidFill>
              <a:srgbClr val="2A7A72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에듀토크</c:v>
                  </c:pt>
                  <c:pt idx="1">
                    <c:v>인플루언서 마케팅</c:v>
                  </c:pt>
                  <c:pt idx="2">
                    <c:v>자사고 설명회 현장</c:v>
                  </c:pt>
                  <c:pt idx="3">
                    <c:v>친구 추천 이벤트</c:v>
                  </c:pt>
                  <c:pt idx="4">
                    <c:v>수강후기 프로모션</c:v>
                  </c:pt>
                  <c:pt idx="5">
                    <c:v>메타 광고</c:v>
                  </c:pt>
                  <c:pt idx="6">
                    <c:v>체험수업</c:v>
                  </c:pt>
                  <c:pt idx="7">
                    <c:v>네이버 카페</c:v>
                  </c:pt>
                  <c:pt idx="8">
                    <c:v>인뎁스 세미나</c:v>
                  </c:pt>
                  <c:pt idx="9">
                    <c:v>교과 프로그램</c:v>
                  </c:pt>
                  <c:pt idx="10">
                    <c:v>당근 마켓</c:v>
                  </c:pt>
                  <c:pt idx="11">
                    <c:v>KMO 2차 현장 응원</c:v>
                  </c:pt>
                  <c:pt idx="12">
                    <c:v>현장 주도 마케팅</c:v>
                  </c:pt>
                  <c:pt idx="13">
                    <c:v>아샘</c:v>
                  </c:pt>
                  <c:pt idx="14">
                    <c:v>자사고 면접 컨설팅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14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진행중</c:v>
                </c:pt>
              </c:strCache>
            </c:strRef>
          </c:tx>
          <c:spPr>
            <a:solidFill>
              <a:srgbClr val="A8640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에듀토크</c:v>
                  </c:pt>
                  <c:pt idx="1">
                    <c:v>인플루언서 마케팅</c:v>
                  </c:pt>
                  <c:pt idx="2">
                    <c:v>자사고 설명회 현장</c:v>
                  </c:pt>
                  <c:pt idx="3">
                    <c:v>친구 추천 이벤트</c:v>
                  </c:pt>
                  <c:pt idx="4">
                    <c:v>수강후기 프로모션</c:v>
                  </c:pt>
                  <c:pt idx="5">
                    <c:v>메타 광고</c:v>
                  </c:pt>
                  <c:pt idx="6">
                    <c:v>체험수업</c:v>
                  </c:pt>
                  <c:pt idx="7">
                    <c:v>네이버 카페</c:v>
                  </c:pt>
                  <c:pt idx="8">
                    <c:v>인뎁스 세미나</c:v>
                  </c:pt>
                  <c:pt idx="9">
                    <c:v>교과 프로그램</c:v>
                  </c:pt>
                  <c:pt idx="10">
                    <c:v>당근 마켓</c:v>
                  </c:pt>
                  <c:pt idx="11">
                    <c:v>KMO 2차 현장 응원</c:v>
                  </c:pt>
                  <c:pt idx="12">
                    <c:v>현장 주도 마케팅</c:v>
                  </c:pt>
                  <c:pt idx="13">
                    <c:v>아샘</c:v>
                  </c:pt>
                  <c:pt idx="14">
                    <c:v>자사고 면접 컨설팅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대기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에듀토크</c:v>
                  </c:pt>
                  <c:pt idx="1">
                    <c:v>인플루언서 마케팅</c:v>
                  </c:pt>
                  <c:pt idx="2">
                    <c:v>자사고 설명회 현장</c:v>
                  </c:pt>
                  <c:pt idx="3">
                    <c:v>친구 추천 이벤트</c:v>
                  </c:pt>
                  <c:pt idx="4">
                    <c:v>수강후기 프로모션</c:v>
                  </c:pt>
                  <c:pt idx="5">
                    <c:v>메타 광고</c:v>
                  </c:pt>
                  <c:pt idx="6">
                    <c:v>체험수업</c:v>
                  </c:pt>
                  <c:pt idx="7">
                    <c:v>네이버 카페</c:v>
                  </c:pt>
                  <c:pt idx="8">
                    <c:v>인뎁스 세미나</c:v>
                  </c:pt>
                  <c:pt idx="9">
                    <c:v>교과 프로그램</c:v>
                  </c:pt>
                  <c:pt idx="10">
                    <c:v>당근 마켓</c:v>
                  </c:pt>
                  <c:pt idx="11">
                    <c:v>KMO 2차 현장 응원</c:v>
                  </c:pt>
                  <c:pt idx="12">
                    <c:v>현장 주도 마케팅</c:v>
                  </c:pt>
                  <c:pt idx="13">
                    <c:v>아샘</c:v>
                  </c:pt>
                  <c:pt idx="14">
                    <c:v>자사고 면접 컨설팅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착수 전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에듀토크</c:v>
                  </c:pt>
                  <c:pt idx="1">
                    <c:v>인플루언서 마케팅</c:v>
                  </c:pt>
                  <c:pt idx="2">
                    <c:v>자사고 설명회 현장</c:v>
                  </c:pt>
                  <c:pt idx="3">
                    <c:v>친구 추천 이벤트</c:v>
                  </c:pt>
                  <c:pt idx="4">
                    <c:v>수강후기 프로모션</c:v>
                  </c:pt>
                  <c:pt idx="5">
                    <c:v>메타 광고</c:v>
                  </c:pt>
                  <c:pt idx="6">
                    <c:v>체험수업</c:v>
                  </c:pt>
                  <c:pt idx="7">
                    <c:v>네이버 카페</c:v>
                  </c:pt>
                  <c:pt idx="8">
                    <c:v>인뎁스 세미나</c:v>
                  </c:pt>
                  <c:pt idx="9">
                    <c:v>교과 프로그램</c:v>
                  </c:pt>
                  <c:pt idx="10">
                    <c:v>당근 마켓</c:v>
                  </c:pt>
                  <c:pt idx="11">
                    <c:v>KMO 2차 현장 응원</c:v>
                  </c:pt>
                  <c:pt idx="12">
                    <c:v>현장 주도 마케팅</c:v>
                  </c:pt>
                  <c:pt idx="13">
                    <c:v>아샘</c:v>
                  </c:pt>
                  <c:pt idx="14">
                    <c:v>자사고 면접 컨설팅</c:v>
                  </c:pt>
                </c:lvl>
              </c:multiLvlStrCache>
            </c:multiLvl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19</c:v>
                </c:pt>
                <c:pt idx="1">
                  <c:v>17</c:v>
                </c:pt>
                <c:pt idx="2">
                  <c:v>2</c:v>
                </c:pt>
                <c:pt idx="3">
                  <c:v>16</c:v>
                </c:pt>
                <c:pt idx="4">
                  <c:v>15</c:v>
                </c:pt>
                <c:pt idx="5">
                  <c:v>14</c:v>
                </c:pt>
                <c:pt idx="6">
                  <c:v>12</c:v>
                </c:pt>
                <c:pt idx="7">
                  <c:v>9</c:v>
                </c:pt>
                <c:pt idx="8">
                  <c:v>9</c:v>
                </c:pt>
                <c:pt idx="9">
                  <c:v>9</c:v>
                </c:pt>
                <c:pt idx="10">
                  <c:v>8</c:v>
                </c:pt>
                <c:pt idx="11">
                  <c:v>7</c:v>
                </c:pt>
                <c:pt idx="12">
                  <c:v>5</c:v>
                </c:pt>
                <c:pt idx="13">
                  <c:v>5</c:v>
                </c:pt>
                <c:pt idx="14">
                  <c:v>0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1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마감 업무</c:v>
                </c:pt>
              </c:strCache>
            </c:strRef>
          </c:tx>
          <c:spPr>
            <a:solidFill>
              <a:srgbClr val="3C5A9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21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9/21</c:v>
                  </c:pt>
                  <c:pt idx="1">
                    <c:v>9/28</c:v>
                  </c:pt>
                  <c:pt idx="2">
                    <c:v>10/5</c:v>
                  </c:pt>
                  <c:pt idx="3">
                    <c:v>10/12</c:v>
                  </c:pt>
                  <c:pt idx="4">
                    <c:v>10/19</c:v>
                  </c:pt>
                  <c:pt idx="5">
                    <c:v>10/26</c:v>
                  </c:pt>
                  <c:pt idx="6">
                    <c:v>11/2</c:v>
                  </c:pt>
                  <c:pt idx="7">
                    <c:v>11/9</c:v>
                  </c:pt>
                  <c:pt idx="8">
                    <c:v>11/16</c:v>
                  </c:pt>
                  <c:pt idx="9">
                    <c:v>11/23</c:v>
                  </c:pt>
                  <c:pt idx="10">
                    <c:v>11/30</c:v>
                  </c:pt>
                  <c:pt idx="11">
                    <c:v>12/7</c:v>
                  </c:pt>
                  <c:pt idx="12">
                    <c:v>12/14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</c:v>
                </c:pt>
                <c:pt idx="1">
                  <c:v>3</c:v>
                </c:pt>
                <c:pt idx="2">
                  <c:v>25</c:v>
                </c:pt>
                <c:pt idx="3">
                  <c:v>39</c:v>
                </c:pt>
                <c:pt idx="4">
                  <c:v>29</c:v>
                </c:pt>
                <c:pt idx="5">
                  <c:v>13</c:v>
                </c:pt>
                <c:pt idx="6">
                  <c:v>9</c:v>
                </c:pt>
                <c:pt idx="7">
                  <c:v>6</c:v>
                </c:pt>
                <c:pt idx="8">
                  <c:v>2</c:v>
                </c:pt>
                <c:pt idx="9">
                  <c:v>0</c:v>
                </c:pt>
                <c:pt idx="10">
                  <c:v>2</c:v>
                </c:pt>
                <c:pt idx="11">
                  <c:v>5</c:v>
                </c:pt>
                <c:pt idx="1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B21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1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[4Q] Items통합에서 담당자가 최세종인 아이템(에듀토크)만 정리. 협업 업무(주제 기획·패널: 홍혜숙/석다혜, 광고 소재·특전 제작: 최유나, 비주얼: 공혜영)는 일정 의존 관계로만 언급. 예산 금액은 시트에 없어 회의 전 기입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12월 모객 아이템 현황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   15개 아이템 · 179개 업무 한눈에 보기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2560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10/7(수) 11:00 대회의실 · 마케팅팀</a:t>
            </a:r>
            <a:endParaRPr lang="en-US" sz="900" dirty="0"/>
          </a:p>
        </p:txBody>
      </p:sp>
      <p:sp>
        <p:nvSpPr>
          <p:cNvPr id="4" name="kpi-확정 아이템 + 통합 아웃바운드"/>
          <p:cNvSpPr/>
          <p:nvPr/>
        </p:nvSpPr>
        <p:spPr>
          <a:xfrm>
            <a:off x="365760" y="896112"/>
            <a:ext cx="2727198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960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15 + 1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960120"/>
            <a:ext cx="11269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확정 아이템 + 통합 아웃바운드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CMS 프로젝트 허브 기준</a:t>
            </a:r>
            <a:endParaRPr lang="en-US" sz="900" dirty="0"/>
          </a:p>
        </p:txBody>
      </p:sp>
      <p:sp>
        <p:nvSpPr>
          <p:cNvPr id="7" name="kpi-세부 업무"/>
          <p:cNvSpPr/>
          <p:nvPr/>
        </p:nvSpPr>
        <p:spPr>
          <a:xfrm>
            <a:off x="3275838" y="896112"/>
            <a:ext cx="2727198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58718" y="960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179건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784598" y="960120"/>
            <a:ext cx="11269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세부 업무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[4Q] Items통합 기준</a:t>
            </a:r>
            <a:endParaRPr lang="en-US" sz="900" dirty="0"/>
          </a:p>
        </p:txBody>
      </p:sp>
      <p:sp>
        <p:nvSpPr>
          <p:cNvPr id="10" name="kpi-완료 · 진행중"/>
          <p:cNvSpPr/>
          <p:nvPr/>
        </p:nvSpPr>
        <p:spPr>
          <a:xfrm>
            <a:off x="6185916" y="896112"/>
            <a:ext cx="2727198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68796" y="960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18 · 13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694676" y="960120"/>
            <a:ext cx="11269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완료 · 진행중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148건 착수 전</a:t>
            </a:r>
            <a:endParaRPr lang="en-US" sz="900" dirty="0"/>
          </a:p>
        </p:txBody>
      </p:sp>
      <p:sp>
        <p:nvSpPr>
          <p:cNvPr id="13" name="kpi-3주(10/5~25)에 마감 집중"/>
          <p:cNvSpPr/>
          <p:nvPr/>
        </p:nvSpPr>
        <p:spPr>
          <a:xfrm>
            <a:off x="9095994" y="896112"/>
            <a:ext cx="2727198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78874" y="960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68%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0604754" y="960120"/>
            <a:ext cx="11269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3주(10/5~25)에 마감 집중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136건 중 93건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20574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아이템별 업무 진행 상태</a:t>
            </a:r>
            <a:endParaRPr lang="en-US" sz="1100" dirty="0"/>
          </a:p>
        </p:txBody>
      </p:sp>
      <p:graphicFrame>
        <p:nvGraphicFramePr>
          <p:cNvPr id="17" name="chart-status" descr=""/>
          <p:cNvGraphicFramePr/>
          <p:nvPr/>
        </p:nvGraphicFramePr>
        <p:xfrm>
          <a:off x="365760" y="2331720"/>
          <a:ext cx="63093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949440" y="205740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주차별 업무 마감 건수</a:t>
            </a:r>
            <a:endParaRPr lang="en-US" sz="1100" dirty="0"/>
          </a:p>
        </p:txBody>
      </p:sp>
      <p:graphicFrame>
        <p:nvGraphicFramePr>
          <p:cNvPr id="19" name="chart-weekly" descr=""/>
          <p:cNvGraphicFramePr/>
          <p:nvPr/>
        </p:nvGraphicFramePr>
        <p:xfrm>
          <a:off x="6949440" y="2331720"/>
          <a:ext cx="4873752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6949440" y="4846320"/>
            <a:ext cx="4873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주 시작일(월) 기준 · 일정이 기재된 136건</a:t>
            </a:r>
            <a:endParaRPr lang="en-US" sz="800" dirty="0"/>
          </a:p>
        </p:txBody>
      </p:sp>
      <p:sp>
        <p:nvSpPr>
          <p:cNvPr id="21" name="weekly-note"/>
          <p:cNvSpPr/>
          <p:nvPr/>
        </p:nvSpPr>
        <p:spPr>
          <a:xfrm>
            <a:off x="6949440" y="5120640"/>
            <a:ext cx="4873752" cy="731520"/>
          </a:xfrm>
          <a:prstGeom prst="roundRect">
            <a:avLst>
              <a:gd name="adj" fmla="val 7500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086600" y="5120640"/>
            <a:ext cx="4599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10/12 주 39건 피크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에듀토크·메타 광고·체험수업·친구추천 준비가 한 주에 겹침 → 디자인 요청과 품의 일정 우선순위 조정 필요</a:t>
            </a:r>
            <a:endParaRPr lang="en-US" sz="900" dirty="0"/>
          </a:p>
        </p:txBody>
      </p:sp>
      <p:sp>
        <p:nvSpPr>
          <p:cNvPr id="23" name="takeaway"/>
          <p:cNvSpPr/>
          <p:nvPr/>
        </p:nvSpPr>
        <p:spPr>
          <a:xfrm>
            <a:off x="365760" y="5989320"/>
            <a:ext cx="11457432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502920" y="5989320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시사점 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아이템 대부분이 착수 전 → 오늘 실행 방향 확정이 우선 · 업무 담당 상위: 최유나 39건, 석다혜 38건, 이미현 26건 → 10월 중순 업무 분산 검토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365760" y="649224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출처: CMS MKT | 2026 4Q · [4Q] Items통합 B~H열(10/6 기준) 업무 행 집계 · '착수 전'은 완료여부 칸이 비어 있는 업무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CMS 프로젝트 허브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   12월 모객 아이템(HQ) 구축 현황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2560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허브 화면 기준 · 시트 일정 대조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아이템별 운영 기간 (허브 ‘시기’ 제안)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703320" y="923544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58768" y="8595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인지·DB 확보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82312" y="923544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8595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체험·관계 형성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61304" y="923544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16752" y="8595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응시·등록 전환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940296" y="923544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95744" y="8595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전환 지원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33019" y="1435608"/>
            <a:ext cx="0" cy="4288536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3469595" y="12070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10월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46263" y="1435608"/>
            <a:ext cx="0" cy="4288536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182839" y="12070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11월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04241" y="1435608"/>
            <a:ext cx="0" cy="4288536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840817" y="12070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12월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64615" y="1435608"/>
            <a:ext cx="0" cy="4288536"/>
          </a:xfrm>
          <a:prstGeom prst="line">
            <a:avLst/>
          </a:prstGeom>
          <a:noFill/>
          <a:ln w="15875">
            <a:solidFill>
              <a:srgbClr val="C855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53135" y="57424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6"/>
                </a:solidFill>
              </a:rPr>
              <a:t>오늘 10/7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1481328"/>
            <a:ext cx="7635240" cy="265176"/>
          </a:xfrm>
          <a:prstGeom prst="rect">
            <a:avLst/>
          </a:prstGeom>
          <a:solidFill>
            <a:schemeClr val="bg2">
              <a:alpha val="60000"/>
            </a:scheme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" y="1568196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6928" y="1481328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에듀토크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최세종</a:t>
            </a:r>
            <a:endParaRPr lang="en-US" sz="900" dirty="0"/>
          </a:p>
        </p:txBody>
      </p:sp>
      <p:sp>
        <p:nvSpPr>
          <p:cNvPr id="24" name="period-에듀토크"/>
          <p:cNvSpPr/>
          <p:nvPr/>
        </p:nvSpPr>
        <p:spPr>
          <a:xfrm>
            <a:off x="2935626" y="1545336"/>
            <a:ext cx="2376435" cy="13716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366925" y="1481328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9/22 ~ 11/4 · 24건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20624" y="1833372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1746504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메타 광고 (인스타그램)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최유나</a:t>
            </a:r>
            <a:endParaRPr lang="en-US" sz="900" dirty="0"/>
          </a:p>
        </p:txBody>
      </p:sp>
      <p:sp>
        <p:nvSpPr>
          <p:cNvPr id="28" name="period-메타 광고 (인스타그램)"/>
          <p:cNvSpPr/>
          <p:nvPr/>
        </p:nvSpPr>
        <p:spPr>
          <a:xfrm>
            <a:off x="3709349" y="1810512"/>
            <a:ext cx="1105319" cy="13716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69532" y="1746504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10/6 ~ 10/26 · 14건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5760" y="2011680"/>
            <a:ext cx="7635240" cy="265176"/>
          </a:xfrm>
          <a:prstGeom prst="rect">
            <a:avLst/>
          </a:prstGeom>
          <a:solidFill>
            <a:schemeClr val="bg2">
              <a:alpha val="60000"/>
            </a:schemeClr>
          </a:solidFill>
          <a:ln/>
        </p:spPr>
      </p:sp>
      <p:sp>
        <p:nvSpPr>
          <p:cNvPr id="31" name="Shape 29"/>
          <p:cNvSpPr/>
          <p:nvPr/>
        </p:nvSpPr>
        <p:spPr>
          <a:xfrm>
            <a:off x="420624" y="2098548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66928" y="201168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인플루언서 마케팅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최유나</a:t>
            </a:r>
            <a:endParaRPr lang="en-US" sz="900" dirty="0"/>
          </a:p>
        </p:txBody>
      </p:sp>
      <p:sp>
        <p:nvSpPr>
          <p:cNvPr id="33" name="period-인플루언서 마케팅"/>
          <p:cNvSpPr/>
          <p:nvPr/>
        </p:nvSpPr>
        <p:spPr>
          <a:xfrm>
            <a:off x="2990892" y="2075688"/>
            <a:ext cx="4366009" cy="13716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573821" y="2011680"/>
            <a:ext cx="1719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9/23 ~ 12/11 · 20건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20624" y="2363724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66928" y="2276856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당근 마켓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석다혜</a:t>
            </a:r>
            <a:endParaRPr lang="en-US" sz="900" dirty="0"/>
          </a:p>
        </p:txBody>
      </p:sp>
      <p:sp>
        <p:nvSpPr>
          <p:cNvPr id="37" name="period-당근 마켓"/>
          <p:cNvSpPr/>
          <p:nvPr/>
        </p:nvSpPr>
        <p:spPr>
          <a:xfrm>
            <a:off x="4040945" y="2340864"/>
            <a:ext cx="1768510" cy="13716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864319" y="227685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10/12 ~ 11/13 · 8건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65760" y="2542032"/>
            <a:ext cx="7635240" cy="265176"/>
          </a:xfrm>
          <a:prstGeom prst="rect">
            <a:avLst/>
          </a:prstGeom>
          <a:solidFill>
            <a:schemeClr val="bg2">
              <a:alpha val="60000"/>
            </a:scheme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0624" y="26289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66928" y="2542032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네이버 카페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이미현</a:t>
            </a:r>
            <a:endParaRPr lang="en-US" sz="900" dirty="0"/>
          </a:p>
        </p:txBody>
      </p:sp>
      <p:sp>
        <p:nvSpPr>
          <p:cNvPr id="42" name="period-네이버 카페"/>
          <p:cNvSpPr/>
          <p:nvPr/>
        </p:nvSpPr>
        <p:spPr>
          <a:xfrm>
            <a:off x="3488285" y="2606040"/>
            <a:ext cx="2708031" cy="13716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251180" y="2542032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10/2 ~ 11/20 · 9건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20624" y="2894076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66928" y="2807208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KMO 2차 현장 응원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김새미</a:t>
            </a:r>
            <a:endParaRPr lang="en-US" sz="900" dirty="0"/>
          </a:p>
        </p:txBody>
      </p:sp>
      <p:sp>
        <p:nvSpPr>
          <p:cNvPr id="46" name="period-KMO 2차 현장 응원"/>
          <p:cNvSpPr/>
          <p:nvPr/>
        </p:nvSpPr>
        <p:spPr>
          <a:xfrm>
            <a:off x="3819881" y="2871216"/>
            <a:ext cx="2044840" cy="13716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919584" y="2807208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10/8 ~ 11/14 · 8건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65760" y="3072384"/>
            <a:ext cx="7635240" cy="265176"/>
          </a:xfrm>
          <a:prstGeom prst="rect">
            <a:avLst/>
          </a:prstGeom>
          <a:solidFill>
            <a:schemeClr val="bg2">
              <a:alpha val="60000"/>
            </a:schemeClr>
          </a:solidFill>
          <a:ln/>
        </p:spPr>
      </p:sp>
      <p:sp>
        <p:nvSpPr>
          <p:cNvPr id="49" name="Shape 47"/>
          <p:cNvSpPr/>
          <p:nvPr/>
        </p:nvSpPr>
        <p:spPr>
          <a:xfrm>
            <a:off x="420624" y="3159252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66928" y="3072384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하반기 자사고 입학설명회 현장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PM 미기재</a:t>
            </a:r>
            <a:endParaRPr lang="en-US" sz="900" dirty="0"/>
          </a:p>
        </p:txBody>
      </p:sp>
      <p:sp>
        <p:nvSpPr>
          <p:cNvPr id="51" name="period-하반기 자사고 입학설명회 현장"/>
          <p:cNvSpPr/>
          <p:nvPr/>
        </p:nvSpPr>
        <p:spPr>
          <a:xfrm>
            <a:off x="3819881" y="3136392"/>
            <a:ext cx="73152" cy="1371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3947897" y="3072384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10/8 · 18건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20624" y="3424428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66928" y="333756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인뎁스 세미나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석다혜</a:t>
            </a:r>
            <a:endParaRPr lang="en-US" sz="900" dirty="0"/>
          </a:p>
        </p:txBody>
      </p:sp>
      <p:sp>
        <p:nvSpPr>
          <p:cNvPr id="55" name="period-인뎁스 세미나"/>
          <p:cNvSpPr/>
          <p:nvPr/>
        </p:nvSpPr>
        <p:spPr>
          <a:xfrm>
            <a:off x="3819881" y="3401568"/>
            <a:ext cx="1436914" cy="13716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311659" y="3337560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10/8 ~ 11/3 · 9건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65760" y="3602736"/>
            <a:ext cx="7635240" cy="265176"/>
          </a:xfrm>
          <a:prstGeom prst="rect">
            <a:avLst/>
          </a:prstGeom>
          <a:solidFill>
            <a:schemeClr val="bg2">
              <a:alpha val="60000"/>
            </a:schemeClr>
          </a:solidFill>
          <a:ln/>
        </p:spPr>
      </p:sp>
      <p:sp>
        <p:nvSpPr>
          <p:cNvPr id="58" name="Shape 56"/>
          <p:cNvSpPr/>
          <p:nvPr/>
        </p:nvSpPr>
        <p:spPr>
          <a:xfrm>
            <a:off x="420624" y="3689604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566928" y="3602736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아샘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이미현</a:t>
            </a:r>
            <a:endParaRPr lang="en-US" sz="900" dirty="0"/>
          </a:p>
        </p:txBody>
      </p:sp>
      <p:sp>
        <p:nvSpPr>
          <p:cNvPr id="60" name="period-아샘"/>
          <p:cNvSpPr/>
          <p:nvPr/>
        </p:nvSpPr>
        <p:spPr>
          <a:xfrm>
            <a:off x="3709349" y="3666744"/>
            <a:ext cx="1215851" cy="13716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980064" y="360273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10/6 ~ 10/28 · 5건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20624" y="3954780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566928" y="3867912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체험수업 (FIT·MATHMILE)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석다혜/이미현</a:t>
            </a:r>
            <a:endParaRPr lang="en-US" sz="900" dirty="0"/>
          </a:p>
        </p:txBody>
      </p:sp>
      <p:sp>
        <p:nvSpPr>
          <p:cNvPr id="64" name="period-체험수업 (FIT·MATHMILE)"/>
          <p:cNvSpPr/>
          <p:nvPr/>
        </p:nvSpPr>
        <p:spPr>
          <a:xfrm>
            <a:off x="3488285" y="3931920"/>
            <a:ext cx="1547446" cy="13716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5090595" y="3867912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10/2 ~ 10/30 · 13건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65760" y="4133088"/>
            <a:ext cx="7635240" cy="265176"/>
          </a:xfrm>
          <a:prstGeom prst="rect">
            <a:avLst/>
          </a:prstGeom>
          <a:solidFill>
            <a:schemeClr val="bg2">
              <a:alpha val="60000"/>
            </a:schemeClr>
          </a:solidFill>
          <a:ln/>
        </p:spPr>
      </p:sp>
      <p:sp>
        <p:nvSpPr>
          <p:cNvPr id="67" name="Shape 65"/>
          <p:cNvSpPr/>
          <p:nvPr/>
        </p:nvSpPr>
        <p:spPr>
          <a:xfrm>
            <a:off x="420624" y="4219956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566928" y="4133088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자사고 면접 컨설팅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홍혜숙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2926080" y="4133088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chemeClr val="accent5"/>
                </a:solidFill>
              </a:rPr>
              <a:t>별도 마스터시트로 일정 관리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20624" y="4485132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566928" y="4398264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교과 프로그램 (알림톡)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이미현/석다혜</a:t>
            </a:r>
            <a:endParaRPr lang="en-US" sz="900" dirty="0"/>
          </a:p>
        </p:txBody>
      </p:sp>
      <p:sp>
        <p:nvSpPr>
          <p:cNvPr id="72" name="period-교과 프로그램 (알림톡)"/>
          <p:cNvSpPr/>
          <p:nvPr/>
        </p:nvSpPr>
        <p:spPr>
          <a:xfrm>
            <a:off x="4427806" y="4462272"/>
            <a:ext cx="828989" cy="13716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5311659" y="4398264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10/19 ~ 11/3 · 9건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65760" y="4663440"/>
            <a:ext cx="7635240" cy="265176"/>
          </a:xfrm>
          <a:prstGeom prst="rect">
            <a:avLst/>
          </a:prstGeom>
          <a:solidFill>
            <a:schemeClr val="bg2">
              <a:alpha val="60000"/>
            </a:schemeClr>
          </a:solidFill>
          <a:ln/>
        </p:spPr>
      </p:sp>
      <p:sp>
        <p:nvSpPr>
          <p:cNvPr id="75" name="Shape 73"/>
          <p:cNvSpPr/>
          <p:nvPr/>
        </p:nvSpPr>
        <p:spPr>
          <a:xfrm>
            <a:off x="420624" y="4750308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566928" y="466344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친구 추천 이벤트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이로은</a:t>
            </a:r>
            <a:endParaRPr lang="en-US" sz="900" dirty="0"/>
          </a:p>
        </p:txBody>
      </p:sp>
      <p:sp>
        <p:nvSpPr>
          <p:cNvPr id="77" name="period-친구 추천 이벤트"/>
          <p:cNvSpPr/>
          <p:nvPr/>
        </p:nvSpPr>
        <p:spPr>
          <a:xfrm>
            <a:off x="4206742" y="4727448"/>
            <a:ext cx="3150158" cy="13716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5573821" y="4663440"/>
            <a:ext cx="1719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10/15 ~ 12/11 · 18건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20624" y="5015484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566928" y="4928616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수강후기 프로모션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최유나</a:t>
            </a:r>
            <a:endParaRPr lang="en-US" sz="900" dirty="0"/>
          </a:p>
        </p:txBody>
      </p:sp>
      <p:sp>
        <p:nvSpPr>
          <p:cNvPr id="81" name="period-수강후기 프로모션"/>
          <p:cNvSpPr/>
          <p:nvPr/>
        </p:nvSpPr>
        <p:spPr>
          <a:xfrm>
            <a:off x="3764615" y="4992624"/>
            <a:ext cx="2376435" cy="13716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195914" y="492861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10/7 ~ 11/19 · 16건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65760" y="5193792"/>
            <a:ext cx="7635240" cy="265176"/>
          </a:xfrm>
          <a:prstGeom prst="rect">
            <a:avLst/>
          </a:prstGeom>
          <a:solidFill>
            <a:schemeClr val="bg2">
              <a:alpha val="60000"/>
            </a:schemeClr>
          </a:solidFill>
          <a:ln/>
        </p:spPr>
      </p:sp>
      <p:sp>
        <p:nvSpPr>
          <p:cNvPr id="84" name="Shape 82"/>
          <p:cNvSpPr/>
          <p:nvPr/>
        </p:nvSpPr>
        <p:spPr>
          <a:xfrm>
            <a:off x="420624" y="5280660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566928" y="5193792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현장 주도 마케팅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최유나</a:t>
            </a:r>
            <a:endParaRPr lang="en-US" sz="900" dirty="0"/>
          </a:p>
        </p:txBody>
      </p:sp>
      <p:sp>
        <p:nvSpPr>
          <p:cNvPr id="86" name="period-현장 주도 마케팅"/>
          <p:cNvSpPr/>
          <p:nvPr/>
        </p:nvSpPr>
        <p:spPr>
          <a:xfrm>
            <a:off x="3322487" y="5257800"/>
            <a:ext cx="4421275" cy="13716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5960682" y="5193792"/>
            <a:ext cx="1719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9/29 ~ 12/18 · 6건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20624" y="5545836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566928" y="5458968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통합 아웃바운드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HQ</a:t>
            </a:r>
            <a:endParaRPr lang="en-US" sz="900" dirty="0"/>
          </a:p>
        </p:txBody>
      </p:sp>
      <p:sp>
        <p:nvSpPr>
          <p:cNvPr id="90" name="Text 88"/>
          <p:cNvSpPr txBox="1"/>
          <p:nvPr/>
        </p:nvSpPr>
        <p:spPr>
          <a:xfrm>
            <a:off x="2926080" y="5458968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chemeClr val="accent5"/>
                </a:solidFill>
              </a:rPr>
              <a:t>시기 미정 · 추가 제안 C(콜 스코어링)와 연결</a:t>
            </a:r>
            <a:endParaRPr lang="en-US" sz="750" dirty="0"/>
          </a:p>
        </p:txBody>
      </p:sp>
      <p:sp>
        <p:nvSpPr>
          <p:cNvPr id="91" name="hub-panel"/>
          <p:cNvSpPr/>
          <p:nvPr/>
        </p:nvSpPr>
        <p:spPr>
          <a:xfrm>
            <a:off x="8183880" y="841248"/>
            <a:ext cx="3639312" cy="5029200"/>
          </a:xfrm>
          <a:prstGeom prst="roundRect">
            <a:avLst>
              <a:gd name="adj" fmla="val 1508"/>
            </a:avLst>
          </a:prstGeom>
          <a:solidFill>
            <a:schemeClr val="tx2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8366760" y="88696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허브 입력 현황</a:t>
            </a:r>
            <a:endParaRPr lang="en-US" sz="1100" dirty="0"/>
          </a:p>
        </p:txBody>
      </p:sp>
      <p:sp>
        <p:nvSpPr>
          <p:cNvPr id="93" name="Text 91"/>
          <p:cNvSpPr txBox="1"/>
          <p:nvPr/>
        </p:nvSpPr>
        <p:spPr>
          <a:xfrm>
            <a:off x="8366760" y="1389888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아이템 등록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   16 / 16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8366760" y="1636776"/>
            <a:ext cx="3273552" cy="109728"/>
          </a:xfrm>
          <a:prstGeom prst="roundRect">
            <a:avLst>
              <a:gd name="adj" fmla="val 50000"/>
            </a:avLst>
          </a:prstGeom>
          <a:solidFill>
            <a:srgbClr val="3A4766"/>
          </a:solidFill>
          <a:ln/>
        </p:spPr>
      </p:sp>
      <p:sp>
        <p:nvSpPr>
          <p:cNvPr id="95" name="Shape 93"/>
          <p:cNvSpPr/>
          <p:nvPr/>
        </p:nvSpPr>
        <p:spPr>
          <a:xfrm>
            <a:off x="8366760" y="1636776"/>
            <a:ext cx="3273552" cy="109728"/>
          </a:xfrm>
          <a:prstGeom prst="roundRect">
            <a:avLst>
              <a:gd name="adj" fmla="val 50000"/>
            </a:avLst>
          </a:prstGeom>
          <a:solidFill>
            <a:srgbClr val="6FBF87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8366760" y="177393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3EE"/>
                </a:solidFill>
              </a:rPr>
              <a:t>아이템 14 · WEB 2</a:t>
            </a:r>
            <a:endParaRPr lang="en-US" sz="800" dirty="0"/>
          </a:p>
        </p:txBody>
      </p:sp>
      <p:sp>
        <p:nvSpPr>
          <p:cNvPr id="97" name="Text 95"/>
          <p:cNvSpPr txBox="1"/>
          <p:nvPr/>
        </p:nvSpPr>
        <p:spPr>
          <a:xfrm>
            <a:off x="8366760" y="201168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시기 입력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   0 / 16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8366760" y="2258568"/>
            <a:ext cx="3273552" cy="109728"/>
          </a:xfrm>
          <a:prstGeom prst="roundRect">
            <a:avLst>
              <a:gd name="adj" fmla="val 50000"/>
            </a:avLst>
          </a:prstGeom>
          <a:solidFill>
            <a:srgbClr val="3A4766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8366760" y="239572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3EE"/>
                </a:solidFill>
              </a:rPr>
              <a:t>전 항목 ‘시기 미지정’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8366760" y="263347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센터 담당 배정 (정·부·실)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   0 / 16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366760" y="2880360"/>
            <a:ext cx="3273552" cy="109728"/>
          </a:xfrm>
          <a:prstGeom prst="roundRect">
            <a:avLst>
              <a:gd name="adj" fmla="val 50000"/>
            </a:avLst>
          </a:prstGeom>
          <a:solidFill>
            <a:srgbClr val="3A4766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8366760" y="301752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3EE"/>
                </a:solidFill>
              </a:rPr>
              <a:t>항목별 미선택 38</a:t>
            </a:r>
            <a:endParaRPr lang="en-US" sz="800" dirty="0"/>
          </a:p>
        </p:txBody>
      </p:sp>
      <p:sp>
        <p:nvSpPr>
          <p:cNvPr id="103" name="Text 101"/>
          <p:cNvSpPr txBox="1"/>
          <p:nvPr/>
        </p:nvSpPr>
        <p:spPr>
          <a:xfrm>
            <a:off x="8366760" y="335584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다음 단계</a:t>
            </a:r>
            <a:endParaRPr lang="en-US" sz="1000" dirty="0"/>
          </a:p>
        </p:txBody>
      </p:sp>
      <p:sp>
        <p:nvSpPr>
          <p:cNvPr id="104" name="Text 102"/>
          <p:cNvSpPr txBox="1"/>
          <p:nvPr/>
        </p:nvSpPr>
        <p:spPr>
          <a:xfrm>
            <a:off x="8366760" y="3630168"/>
            <a:ext cx="3273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DCE3EE"/>
                </a:solidFill>
              </a:rPr>
              <a:t>왼쪽 운영 기간을 허브 ‘시기’에 입력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DCE3EE"/>
                </a:solidFill>
              </a:rPr>
              <a:t>아이템별 센터 담당 정·부·실 배정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DCE3EE"/>
                </a:solidFill>
              </a:rPr>
              <a:t>통합 아웃바운드(WEB)에 미전환 DB 콜 흐름 연결 — 우선순위 산출 → 알림톡 예열 → 상담콜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DCE3EE"/>
                </a:solidFill>
              </a:rPr>
              <a:t>명칭 통일: 허브 ‘교과 프로그램’ = 시트 ‘교과 프로그램 홍보(알림톡)’, 허브 ‘자사고 면접 컨설팅(이병훈 소장 라이브)’ = 시트 ‘[특사모]’ + ‘이병훈 소장 라이브’</a:t>
            </a:r>
            <a:endParaRPr lang="en-US" sz="850" dirty="0"/>
          </a:p>
        </p:txBody>
      </p:sp>
      <p:sp>
        <p:nvSpPr>
          <p:cNvPr id="105" name="takeaway"/>
          <p:cNvSpPr/>
          <p:nvPr/>
        </p:nvSpPr>
        <p:spPr>
          <a:xfrm>
            <a:off x="365760" y="5989320"/>
            <a:ext cx="11457432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502920" y="5989320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시사점 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허브에 16개 항목 등록은 끝났고, 시기·센터 담당이 비어 있음 → 시트 일정 기준으로 이번 주 안에 채우면 센터별 실행 현황까지 허브에서 추적 가능</a:t>
            </a:r>
            <a:endParaRPr lang="en-US" sz="950" dirty="0"/>
          </a:p>
        </p:txBody>
      </p:sp>
      <p:sp>
        <p:nvSpPr>
          <p:cNvPr id="107" name="Text 105"/>
          <p:cNvSpPr txBox="1"/>
          <p:nvPr/>
        </p:nvSpPr>
        <p:spPr>
          <a:xfrm>
            <a:off x="365760" y="649224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출처: CMS 프로젝트 허브 ‘12월 모객 아이템(HQ)’·‘아웃바운드(HQ)’ 화면 / [4Q] Items통합 B~H열 업무 날짜의 최초~최종일(10/6 기준)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에듀토크 (이병훈TV 라이브)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   겨울학기 모객 실행 방향 · 담당 최세종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2560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10/7(수) 대회의실 · 방송 D-Day 11/4(수)</a:t>
            </a:r>
            <a:endParaRPr lang="en-US" sz="900" dirty="0"/>
          </a:p>
        </p:txBody>
      </p:sp>
      <p:sp>
        <p:nvSpPr>
          <p:cNvPr id="4" name="card-왜 하나"/>
          <p:cNvSpPr/>
          <p:nvPr/>
        </p:nvSpPr>
        <p:spPr>
          <a:xfrm>
            <a:off x="365760" y="868680"/>
            <a:ext cx="2471928" cy="1298448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2471928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868680"/>
            <a:ext cx="2289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왜 하나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1252728"/>
            <a:ext cx="22524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겨울학기 모객의 첫 대규모 학부모 접점. 이병훈TV의 도달력·신뢰도로 입시 관심 학부모 DB를 온라인에서 한 번에 확보하고, 인뎁스 세미나·체험수업·입학테스트로 이어지는 퍼널의 입구를 만든다.</a:t>
            </a:r>
            <a:endParaRPr lang="en-US" sz="900" dirty="0"/>
          </a:p>
        </p:txBody>
      </p:sp>
      <p:sp>
        <p:nvSpPr>
          <p:cNvPr id="8" name="card-누구에게"/>
          <p:cNvSpPr/>
          <p:nvPr/>
        </p:nvSpPr>
        <p:spPr>
          <a:xfrm>
            <a:off x="2947416" y="868680"/>
            <a:ext cx="2471928" cy="1298448"/>
          </a:xfrm>
          <a:prstGeom prst="rect">
            <a:avLst/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9" name="Shape 7"/>
          <p:cNvSpPr/>
          <p:nvPr/>
        </p:nvSpPr>
        <p:spPr>
          <a:xfrm>
            <a:off x="2947416" y="868680"/>
            <a:ext cx="2471928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38856" y="868680"/>
            <a:ext cx="2289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누구에게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057144" y="1252728"/>
            <a:ext cx="22524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입시·진학 정보에 관심 있는 학부모 (세부 타깃은 주제·패널 확정 후 확정, 홍혜숙·석다혜 10/6). 이병훈TV 시청자 + 제휴학원(기존 입시 실적) + 광고 채널 유입.</a:t>
            </a:r>
            <a:endParaRPr lang="en-US" sz="900" dirty="0"/>
          </a:p>
        </p:txBody>
      </p:sp>
      <p:sp>
        <p:nvSpPr>
          <p:cNvPr id="12" name="card-어떻게"/>
          <p:cNvSpPr/>
          <p:nvPr/>
        </p:nvSpPr>
        <p:spPr>
          <a:xfrm>
            <a:off x="5529072" y="868680"/>
            <a:ext cx="2471928" cy="1298448"/>
          </a:xfrm>
          <a:prstGeom prst="rect">
            <a:avLst/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5529072" y="868680"/>
            <a:ext cx="2471928" cy="310896"/>
          </a:xfrm>
          <a:prstGeom prst="roundRect">
            <a:avLst>
              <a:gd name="adj" fmla="val 17647"/>
            </a:avLst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20512" y="868680"/>
            <a:ext cx="2289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어떻게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38800" y="1252728"/>
            <a:ext cx="22524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11/4 이병훈TV 라이브 방송 · 랜딩 웹앱에서 신청(설문 + 특전) · DM 2회(D-14 예열, D-7 리마인드, 알림톡 분할 발송) · 방송 중 라이브 채팅 실시간 대응.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2304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모객 연결 흐름</a:t>
            </a:r>
            <a:endParaRPr lang="en-US" sz="1050" dirty="0"/>
          </a:p>
        </p:txBody>
      </p:sp>
      <p:sp>
        <p:nvSpPr>
          <p:cNvPr id="17" name="step-홍보 채널·제휴"/>
          <p:cNvSpPr/>
          <p:nvPr/>
        </p:nvSpPr>
        <p:spPr>
          <a:xfrm>
            <a:off x="365760" y="2596896"/>
            <a:ext cx="1089660" cy="786384"/>
          </a:xfrm>
          <a:prstGeom prst="roundRect">
            <a:avLst>
              <a:gd name="adj" fmla="val 6977"/>
            </a:avLst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596896"/>
            <a:ext cx="9067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홍보 채널·제휴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10/5~ 채널 확정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제휴학원 공동 홍보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455420" y="2596896"/>
            <a:ext cx="219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tep-랜딩 신청"/>
          <p:cNvSpPr/>
          <p:nvPr/>
        </p:nvSpPr>
        <p:spPr>
          <a:xfrm>
            <a:off x="1674876" y="2596896"/>
            <a:ext cx="1089660" cy="786384"/>
          </a:xfrm>
          <a:prstGeom prst="roundRect">
            <a:avLst>
              <a:gd name="adj" fmla="val 6977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766316" y="2596896"/>
            <a:ext cx="9067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랜딩 신청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10/21 오픈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설문+특전 → DB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764536" y="2596896"/>
            <a:ext cx="219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tep-DM 예열"/>
          <p:cNvSpPr/>
          <p:nvPr/>
        </p:nvSpPr>
        <p:spPr>
          <a:xfrm>
            <a:off x="2983992" y="2596896"/>
            <a:ext cx="1089660" cy="786384"/>
          </a:xfrm>
          <a:prstGeom prst="roundRect">
            <a:avLst>
              <a:gd name="adj" fmla="val 6977"/>
            </a:avLst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075432" y="2596896"/>
            <a:ext cx="9067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DM 예열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D-14 (10/21)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D-7 (10/28)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073652" y="2596896"/>
            <a:ext cx="219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tep-11/4 라이브"/>
          <p:cNvSpPr/>
          <p:nvPr/>
        </p:nvSpPr>
        <p:spPr>
          <a:xfrm>
            <a:off x="4293108" y="2596896"/>
            <a:ext cx="1089660" cy="786384"/>
          </a:xfrm>
          <a:prstGeom prst="roundRect">
            <a:avLst>
              <a:gd name="adj" fmla="val 6977"/>
            </a:avLst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84548" y="2596896"/>
            <a:ext cx="9067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11/4 라이브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이병훈TV 방송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채팅 실시간 대응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382768" y="2596896"/>
            <a:ext cx="219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tep-후속 알림톡"/>
          <p:cNvSpPr/>
          <p:nvPr/>
        </p:nvSpPr>
        <p:spPr>
          <a:xfrm>
            <a:off x="5602224" y="2596896"/>
            <a:ext cx="1089660" cy="786384"/>
          </a:xfrm>
          <a:prstGeom prst="roundRect">
            <a:avLst>
              <a:gd name="adj" fmla="val 6977"/>
            </a:avLst>
          </a:prstGeom>
          <a:solidFill>
            <a:schemeClr val="accent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693664" y="2596896"/>
            <a:ext cx="9067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후속 알림톡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방송 후 인뎁스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·체험수업 안내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691884" y="2596896"/>
            <a:ext cx="219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tep-입테·등록"/>
          <p:cNvSpPr/>
          <p:nvPr/>
        </p:nvSpPr>
        <p:spPr>
          <a:xfrm>
            <a:off x="6911340" y="2596896"/>
            <a:ext cx="1089660" cy="786384"/>
          </a:xfrm>
          <a:prstGeom prst="roundRect">
            <a:avLst>
              <a:gd name="adj" fmla="val 6977"/>
            </a:avLst>
          </a:prstGeom>
          <a:solidFill>
            <a:schemeClr val="accent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002780" y="2596896"/>
            <a:ext cx="9067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입테·등록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12월 2주 입테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→ 겨울학기 등록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547872"/>
            <a:ext cx="3886200" cy="310896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7200" y="354787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주요 일정</a:t>
            </a:r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  최세종 담당 업무 타임라인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39136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10/1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514600" y="4087368"/>
            <a:ext cx="0" cy="1604772"/>
          </a:xfrm>
          <a:prstGeom prst="line">
            <a:avLst/>
          </a:prstGeom>
          <a:noFill/>
          <a:ln w="6350">
            <a:solidFill>
              <a:srgbClr val="C9CED6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2891481" y="39136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10/15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120081" y="4087368"/>
            <a:ext cx="0" cy="1604772"/>
          </a:xfrm>
          <a:prstGeom prst="line">
            <a:avLst/>
          </a:prstGeom>
          <a:noFill/>
          <a:ln w="6350">
            <a:solidFill>
              <a:srgbClr val="C9CED6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3626708" y="39136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11/1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855308" y="4087368"/>
            <a:ext cx="0" cy="1604772"/>
          </a:xfrm>
          <a:prstGeom prst="line">
            <a:avLst/>
          </a:prstGeom>
          <a:noFill/>
          <a:ln w="6350">
            <a:solidFill>
              <a:srgbClr val="C9CED6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774092" y="4087368"/>
            <a:ext cx="0" cy="1604772"/>
          </a:xfrm>
          <a:prstGeom prst="line">
            <a:avLst/>
          </a:prstGeom>
          <a:noFill/>
          <a:ln w="12700">
            <a:solidFill>
              <a:srgbClr val="C8553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65760" y="4114800"/>
            <a:ext cx="21488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10/5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홍보 채널 확정</a:t>
            </a:r>
            <a:pPr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  진행중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514600" y="4203954"/>
            <a:ext cx="1600200" cy="0"/>
          </a:xfrm>
          <a:prstGeom prst="line">
            <a:avLst/>
          </a:prstGeom>
          <a:noFill/>
          <a:ln w="6350">
            <a:solidFill>
              <a:srgbClr val="E3E6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37303" y="4153662"/>
            <a:ext cx="100584" cy="100584"/>
          </a:xfrm>
          <a:prstGeom prst="ellipse">
            <a:avLst/>
          </a:prstGeom>
          <a:solidFill>
            <a:srgbClr val="2A7A72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65760" y="4293108"/>
            <a:ext cx="21488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10/8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특전 설정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514600" y="4382262"/>
            <a:ext cx="1600200" cy="0"/>
          </a:xfrm>
          <a:prstGeom prst="line">
            <a:avLst/>
          </a:prstGeom>
          <a:noFill/>
          <a:ln w="6350">
            <a:solidFill>
              <a:srgbClr val="E3E6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67049" y="433197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65760" y="4471416"/>
            <a:ext cx="21488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10/13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랜딩 구성 기획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14600" y="4560570"/>
            <a:ext cx="1600200" cy="0"/>
          </a:xfrm>
          <a:prstGeom prst="line">
            <a:avLst/>
          </a:prstGeom>
          <a:noFill/>
          <a:ln w="6350">
            <a:solidFill>
              <a:srgbClr val="E3E6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83292" y="4510278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65760" y="4649724"/>
            <a:ext cx="21488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10/14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채팅 대응방안 기획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514600" y="4738878"/>
            <a:ext cx="1600200" cy="0"/>
          </a:xfrm>
          <a:prstGeom prst="line">
            <a:avLst/>
          </a:prstGeom>
          <a:noFill/>
          <a:ln w="6350">
            <a:solidFill>
              <a:srgbClr val="E3E6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026540" y="468858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65760" y="4828032"/>
            <a:ext cx="21488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10/16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설문 설계·DM 문안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514600" y="4917186"/>
            <a:ext cx="1600200" cy="0"/>
          </a:xfrm>
          <a:prstGeom prst="line">
            <a:avLst/>
          </a:prstGeom>
          <a:noFill/>
          <a:ln w="6350">
            <a:solidFill>
              <a:srgbClr val="E3E6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113038" y="4866894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65760" y="5006340"/>
            <a:ext cx="21488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10/19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랜딩 웹앱 개발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514600" y="5095494"/>
            <a:ext cx="1600200" cy="0"/>
          </a:xfrm>
          <a:prstGeom prst="line">
            <a:avLst/>
          </a:prstGeom>
          <a:noFill/>
          <a:ln w="6350">
            <a:solidFill>
              <a:srgbClr val="E3E6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42784" y="5045202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65760" y="5184648"/>
            <a:ext cx="21488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10/21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랜딩 릴리즈·DM 1차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514600" y="5273802"/>
            <a:ext cx="1600200" cy="0"/>
          </a:xfrm>
          <a:prstGeom prst="line">
            <a:avLst/>
          </a:prstGeom>
          <a:noFill/>
          <a:ln w="6350">
            <a:solidFill>
              <a:srgbClr val="E3E6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29281" y="522351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65760" y="5362956"/>
            <a:ext cx="21488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10/28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DM 2차 (D-7)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514600" y="5452110"/>
            <a:ext cx="1600200" cy="0"/>
          </a:xfrm>
          <a:prstGeom prst="line">
            <a:avLst/>
          </a:prstGeom>
          <a:noFill/>
          <a:ln w="6350">
            <a:solidFill>
              <a:srgbClr val="E3E6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32022" y="5401818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65760" y="5541264"/>
            <a:ext cx="21488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11/4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방송 D-Day·채팅 대응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514600" y="5630418"/>
            <a:ext cx="1600200" cy="0"/>
          </a:xfrm>
          <a:prstGeom prst="line">
            <a:avLst/>
          </a:prstGeom>
          <a:noFill/>
          <a:ln w="6350">
            <a:solidFill>
              <a:srgbClr val="E3E6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934762" y="5580126"/>
            <a:ext cx="100584" cy="100584"/>
          </a:xfrm>
          <a:prstGeom prst="ellipse">
            <a:avLst/>
          </a:prstGeom>
          <a:solidFill>
            <a:srgbClr val="8A3F5C"/>
          </a:solidFill>
          <a:ln w="12700">
            <a:solidFill>
              <a:srgbClr val="8A3F5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65760" y="574700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● 진행중   ○ 예정   │ 빨간선 오늘(10/7)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389120" y="3547872"/>
            <a:ext cx="3611880" cy="310896"/>
          </a:xfrm>
          <a:prstGeom prst="roundRect">
            <a:avLst>
              <a:gd name="adj" fmla="val 17647"/>
            </a:avLst>
          </a:prstGeom>
          <a:solidFill>
            <a:schemeClr val="accent6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480560" y="354787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예상 예산</a:t>
            </a:r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  금액은 회의 전 기입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3913632"/>
          <a:ext cx="36118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828800"/>
                <a:gridCol w="82296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3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금액(만원)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3D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특전 개발·제작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주제 연계 특전 (최유나 10/16)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홍보 채널 광고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채널별 광고 소재·집행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 홍보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제휴학원 공동 홍보 (제휴실행안)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DM·알림톡 발송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D-14 / D-7, 분할 발송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방송·패널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이병훈TV 송출·패널 (조율 중)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랜딩 웹앱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내부 개발 (최세종)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4" name="proposal-panel"/>
          <p:cNvSpPr/>
          <p:nvPr/>
        </p:nvSpPr>
        <p:spPr>
          <a:xfrm>
            <a:off x="8156448" y="868680"/>
            <a:ext cx="3666744" cy="4892040"/>
          </a:xfrm>
          <a:prstGeom prst="roundRect">
            <a:avLst>
              <a:gd name="adj" fmla="val 1496"/>
            </a:avLst>
          </a:prstGeom>
          <a:solidFill>
            <a:schemeClr val="tx2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8293608" y="86868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✚ 추가 제안</a:t>
            </a:r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  12월 모객 로드맵 적용</a:t>
            </a:r>
            <a:endParaRPr lang="en-US" sz="900" dirty="0"/>
          </a:p>
        </p:txBody>
      </p:sp>
      <p:sp>
        <p:nvSpPr>
          <p:cNvPr id="76" name="Text 73"/>
          <p:cNvSpPr txBox="1"/>
          <p:nvPr/>
        </p:nvSpPr>
        <p:spPr>
          <a:xfrm>
            <a:off x="8293608" y="1325880"/>
            <a:ext cx="33924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A. 리마인더 확대로 미시청 방지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3EE"/>
                </a:solidFill>
              </a:rPr>
              <a:t>D-14·D-7에 D-1·당일 알림톡 추가 → 신청 후 미시청(노쇼) 최소화</a:t>
            </a:r>
            <a:endParaRPr lang="en-US" sz="9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buNone/>
            </a:pPr>
            <a:r>
              <a:rPr lang="en-US" sz="950" b="1" dirty="0">
                <a:solidFill>
                  <a:srgbClr val="FFFFFF"/>
                </a:solidFill>
              </a:rPr>
              <a:t>B. 설문 기반 우선순위 상담콜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3EE"/>
                </a:solidFill>
              </a:rPr>
              <a:t>설문 관심도로 신청자 스코어링 → 방송 후 24~48h 골든타임에 상위 리드부터 상담콜</a:t>
            </a:r>
            <a:endParaRPr lang="en-US" sz="9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buNone/>
            </a:pPr>
            <a:r>
              <a:rPr lang="en-US" sz="950" b="1" dirty="0">
                <a:solidFill>
                  <a:srgbClr val="FFFFFF"/>
                </a:solidFill>
              </a:rPr>
              <a:t>C. 관심사별 후속 알림톡 분기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3EE"/>
                </a:solidFill>
              </a:rPr>
              <a:t>설문의 학년·관심 프로그램에 따라 인뎁스 세미나 / FIT / MATHMILE 체험수업으로 나눠 안내</a:t>
            </a:r>
            <a:endParaRPr lang="en-US" sz="9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buNone/>
            </a:pPr>
            <a:r>
              <a:rPr lang="en-US" sz="950" b="1" dirty="0">
                <a:solidFill>
                  <a:srgbClr val="FFFFFF"/>
                </a:solidFill>
              </a:rPr>
              <a:t>D. 다시보기·하이라이트 숏폼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3EE"/>
                </a:solidFill>
              </a:rPr>
              <a:t>미시청자 재접촉용 다시보기 링크 + 하이라이트를 메타·당근 광고 소재로 재활용</a:t>
            </a:r>
            <a:endParaRPr lang="en-US" sz="9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buNone/>
            </a:pPr>
            <a:r>
              <a:rPr lang="en-US" sz="950" b="1" dirty="0">
                <a:solidFill>
                  <a:srgbClr val="FFFFFF"/>
                </a:solidFill>
              </a:rPr>
              <a:t>E. 입테 통합 퍼널·CRM 연결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3EE"/>
                </a:solidFill>
              </a:rPr>
              <a:t>에듀토크 DB를 신청→시청→인뎁스·체험→입테→등록까지 추적해 단계별 전환율 측정</a:t>
            </a:r>
            <a:endParaRPr lang="en-US" sz="9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buNone/>
            </a:pPr>
            <a:r>
              <a:rPr lang="en-US" sz="950" b="1" dirty="0">
                <a:solidFill>
                  <a:srgbClr val="FFFFFF"/>
                </a:solidFill>
              </a:rPr>
              <a:t>F. 라이브 채팅 질문 FAQ화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3EE"/>
                </a:solidFill>
              </a:rPr>
              <a:t>채팅 질문을 학부모 FAQ·상담 스크립트·후속 콘텐츠로 정리 (Montelena 여론 데이터와 결합)</a:t>
            </a:r>
            <a:endParaRPr lang="en-US" sz="900" dirty="0"/>
          </a:p>
        </p:txBody>
      </p:sp>
      <p:sp>
        <p:nvSpPr>
          <p:cNvPr id="77" name="decisions"/>
          <p:cNvSpPr/>
          <p:nvPr/>
        </p:nvSpPr>
        <p:spPr>
          <a:xfrm>
            <a:off x="365760" y="5888736"/>
            <a:ext cx="11457432" cy="548640"/>
          </a:xfrm>
          <a:prstGeom prst="roundRect">
            <a:avLst>
              <a:gd name="adj" fmla="val 10000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502920" y="588873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회의 결정 필요</a:t>
            </a:r>
            <a:endParaRPr lang="en-US" sz="1050" dirty="0"/>
          </a:p>
        </p:txBody>
      </p:sp>
      <p:sp>
        <p:nvSpPr>
          <p:cNvPr id="79" name="Text 76"/>
          <p:cNvSpPr txBox="1"/>
          <p:nvPr/>
        </p:nvSpPr>
        <p:spPr>
          <a:xfrm>
            <a:off x="1691640" y="5888736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① 이병훈TV 컨셉 대표님 보고·조율 결과   ② 주제·패널 확정 → 특전 컨셉(10/8)   ③ 홍보 채널·제휴학원 범위   ④ 당근마켓 홍보 품의 에듀토크 통합 여부   ⑤ 알림톡 분할 발송 기준·템플릿 심사 일정   ⑥ 성과 목표(신청·시청·입테 전환)</a:t>
            </a:r>
            <a:endParaRPr lang="en-US" sz="900" dirty="0"/>
          </a:p>
        </p:txBody>
      </p:sp>
      <p:sp>
        <p:nvSpPr>
          <p:cNvPr id="80" name="Text 77"/>
          <p:cNvSpPr txBox="1"/>
          <p:nvPr/>
        </p:nvSpPr>
        <p:spPr>
          <a:xfrm>
            <a:off x="365760" y="649224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출처: CMS MKT | 2026 4Q · [4Q] Items통합 B~H열 에듀토크(10/6 기준) / 12월 모객 로드맵(9/9, Claude Code 작업) · D-7 리마인드일(10/28)은 방송일 기준 산출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에듀토크 상세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   ① 준비 일정 — 24개 업무와 크리티컬 패스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2560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담당 최세종 · 방송 11/4(수)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342467" y="960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10/1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616787" y="1188720"/>
            <a:ext cx="0" cy="4608576"/>
          </a:xfrm>
          <a:prstGeom prst="line">
            <a:avLst/>
          </a:prstGeom>
          <a:noFill/>
          <a:ln w="6350">
            <a:solidFill>
              <a:srgbClr val="D4D8DE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505061" y="960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10/15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779381" y="1188720"/>
            <a:ext cx="0" cy="4608576"/>
          </a:xfrm>
          <a:prstGeom prst="line">
            <a:avLst/>
          </a:prstGeom>
          <a:noFill/>
          <a:ln w="6350">
            <a:solidFill>
              <a:srgbClr val="D4D8DE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916783" y="960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11/1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191103" y="1188720"/>
            <a:ext cx="0" cy="4608576"/>
          </a:xfrm>
          <a:prstGeom prst="line">
            <a:avLst/>
          </a:prstGeom>
          <a:noFill/>
          <a:ln w="6350">
            <a:solidFill>
              <a:srgbClr val="D4D8D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115042" y="1188720"/>
            <a:ext cx="0" cy="4608576"/>
          </a:xfrm>
          <a:prstGeom prst="line">
            <a:avLst/>
          </a:prstGeom>
          <a:noFill/>
          <a:ln w="15875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0722" y="960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6"/>
                </a:solidFill>
              </a:rPr>
              <a:t>오늘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7790688" y="9601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미정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216152"/>
            <a:ext cx="7635240" cy="192024"/>
          </a:xfrm>
          <a:prstGeom prst="roundRect">
            <a:avLst>
              <a:gd name="adj" fmla="val 19048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11887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기획·콘텐츠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4264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9/22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송출 채널 선정 (이병훈TV)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-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03320" y="1517904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14541" y="1463040"/>
            <a:ext cx="109728" cy="109728"/>
          </a:xfrm>
          <a:prstGeom prst="ellipse">
            <a:avLst/>
          </a:prstGeom>
          <a:solidFill>
            <a:srgbClr val="2A7A72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160934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10/6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주제 기획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홍혜숙/석다혜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03320" y="1700784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77135" y="1645920"/>
            <a:ext cx="109728" cy="109728"/>
          </a:xfrm>
          <a:prstGeom prst="ellipse">
            <a:avLst/>
          </a:prstGeom>
          <a:solidFill>
            <a:srgbClr val="A8640F"/>
          </a:solidFill>
          <a:ln w="19050">
            <a:solidFill>
              <a:srgbClr val="C855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179222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10/6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패널 확정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홍혜숙/석다혜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03320" y="1883664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77135" y="1828800"/>
            <a:ext cx="109728" cy="109728"/>
          </a:xfrm>
          <a:prstGeom prst="ellipse">
            <a:avLst/>
          </a:prstGeom>
          <a:solidFill>
            <a:srgbClr val="A8640F"/>
          </a:solidFill>
          <a:ln w="19050">
            <a:solidFill>
              <a:srgbClr val="C855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10/8  </a:t>
            </a:r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특전 설정</a:t>
            </a:r>
            <a:pPr indent="0" marL="0">
              <a:buNone/>
            </a:pPr>
            <a:r>
              <a:rPr lang="en-US" sz="750" b="1" dirty="0">
                <a:solidFill>
                  <a:srgbClr val="8A3F5C"/>
                </a:solidFill>
              </a:rPr>
              <a:t>  최세종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703320" y="2066544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43220" y="201168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55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215798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10/16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특전 개발 제작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최유나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703320" y="2249424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7560" y="2194560"/>
            <a:ext cx="109728" cy="109728"/>
          </a:xfrm>
          <a:prstGeom prst="ellipse">
            <a:avLst/>
          </a:prstGeom>
          <a:solidFill>
            <a:srgbClr val="A8640F"/>
          </a:solidFill>
          <a:ln w="19050">
            <a:solidFill>
              <a:srgbClr val="C855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23408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—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특전 원고 작성 → 검수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석다혜·이미현 → 홍혜숙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703320" y="2432304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00416" y="2377440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252374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10/30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원고 · 발표자료 개발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홍혜숙/석다혜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703320" y="2615184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70154" y="256032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55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2734056"/>
            <a:ext cx="7635240" cy="192024"/>
          </a:xfrm>
          <a:prstGeom prst="roundRect">
            <a:avLst>
              <a:gd name="adj" fmla="val 19048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200" y="2706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홍보·DM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294436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10/5  </a:t>
            </a:r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홍보 채널 확정 (제휴실행안)</a:t>
            </a:r>
            <a:pPr indent="0" marL="0">
              <a:buNone/>
            </a:pPr>
            <a:r>
              <a:rPr lang="en-US" sz="750" b="1" dirty="0">
                <a:solidFill>
                  <a:srgbClr val="8A3F5C"/>
                </a:solidFill>
              </a:rPr>
              <a:t>  최세종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703320" y="3035808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4093" y="2980944"/>
            <a:ext cx="109728" cy="109728"/>
          </a:xfrm>
          <a:prstGeom prst="ellipse">
            <a:avLst/>
          </a:prstGeom>
          <a:solidFill>
            <a:srgbClr val="A8640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7200" y="312724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10/8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채널별 광고 소재 기획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최유나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703320" y="3218688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43220" y="3163824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553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33101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—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에듀토크 비주얼 기획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공혜영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703320" y="3401568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00416" y="3346704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57200" y="349300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10/16  </a:t>
            </a:r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광고 소재 디자인 · DM 문안</a:t>
            </a:r>
            <a:pPr indent="0" marL="0">
              <a:buNone/>
            </a:pPr>
            <a:r>
              <a:rPr lang="en-US" sz="750" b="1" dirty="0">
                <a:solidFill>
                  <a:srgbClr val="8A3F5C"/>
                </a:solidFill>
              </a:rPr>
              <a:t>  최유나 · 최세종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703320" y="3584448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07560" y="3529584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55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7200" y="367588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10/19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채널별 콘텐츠 게시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최유나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703320" y="3767328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56687" y="3712464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7200" y="385876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10/21  </a:t>
            </a:r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DM 1차(D-14) · 2차(D-7)</a:t>
            </a:r>
            <a:pPr indent="0" marL="0">
              <a:buNone/>
            </a:pPr>
            <a:r>
              <a:rPr lang="en-US" sz="750" b="1" dirty="0">
                <a:solidFill>
                  <a:srgbClr val="8A3F5C"/>
                </a:solidFill>
              </a:rPr>
              <a:t>  최세종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703320" y="3950208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22772" y="3895344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55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" y="4069080"/>
            <a:ext cx="7635240" cy="192024"/>
          </a:xfrm>
          <a:prstGeom prst="roundRect">
            <a:avLst>
              <a:gd name="adj" fmla="val 19048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57200" y="4041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랜딩·설문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427939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10/13  </a:t>
            </a:r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랜딩 웹앱 구성 기획</a:t>
            </a:r>
            <a:pPr indent="0" marL="0">
              <a:buNone/>
            </a:pPr>
            <a:r>
              <a:rPr lang="en-US" sz="750" b="1" dirty="0">
                <a:solidFill>
                  <a:srgbClr val="8A3F5C"/>
                </a:solidFill>
              </a:rPr>
              <a:t>  최세종/최유나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703320" y="4370832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58432" y="4315968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57200" y="446227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10/16  </a:t>
            </a:r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설문 설계</a:t>
            </a:r>
            <a:pPr indent="0" marL="0">
              <a:buNone/>
            </a:pPr>
            <a:r>
              <a:rPr lang="en-US" sz="750" b="1" dirty="0">
                <a:solidFill>
                  <a:srgbClr val="8A3F5C"/>
                </a:solidFill>
              </a:rPr>
              <a:t>  최세종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703320" y="4553712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07560" y="4498848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57200" y="46451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10/19  </a:t>
            </a:r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랜딩 웹앱 개발</a:t>
            </a:r>
            <a:pPr indent="0" marL="0">
              <a:buNone/>
            </a:pPr>
            <a:r>
              <a:rPr lang="en-US" sz="750" b="1" dirty="0">
                <a:solidFill>
                  <a:srgbClr val="8A3F5C"/>
                </a:solidFill>
              </a:rPr>
              <a:t>  최세종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703320" y="4736592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56687" y="4681728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57200" y="482803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10/21  </a:t>
            </a:r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랜딩 릴리즈</a:t>
            </a:r>
            <a:pPr indent="0" marL="0">
              <a:buNone/>
            </a:pPr>
            <a:r>
              <a:rPr lang="en-US" sz="750" b="1" dirty="0">
                <a:solidFill>
                  <a:srgbClr val="8A3F5C"/>
                </a:solidFill>
              </a:rPr>
              <a:t>  최세종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703320" y="4919472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22772" y="4864608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553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5760" y="5038344"/>
            <a:ext cx="7635240" cy="192024"/>
          </a:xfrm>
          <a:prstGeom prst="roundRect">
            <a:avLst>
              <a:gd name="adj" fmla="val 19048"/>
            </a:avLst>
          </a:prstGeom>
          <a:solidFill>
            <a:schemeClr val="accent3">
              <a:alpha val="15000"/>
            </a:schemeClr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457200" y="50109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방송 운영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457200" y="524865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10/14  </a:t>
            </a:r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라이브 채팅 대응방안 기획</a:t>
            </a:r>
            <a:pPr indent="0" marL="0">
              <a:buNone/>
            </a:pPr>
            <a:r>
              <a:rPr lang="en-US" sz="750" b="1" dirty="0">
                <a:solidFill>
                  <a:srgbClr val="8A3F5C"/>
                </a:solidFill>
              </a:rPr>
              <a:t>  최세종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703320" y="5340096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641475" y="5285232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57200" y="543153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10/30  </a:t>
            </a:r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대본 리딩·리허설 (11/2 최종 점검)</a:t>
            </a:r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  홍혜숙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703320" y="5522976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70154" y="5468112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553D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57200" y="56144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11/4  </a:t>
            </a:r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방송 D-Day · 라이브 채팅 대응</a:t>
            </a:r>
            <a:pPr indent="0" marL="0">
              <a:buNone/>
            </a:pPr>
            <a:r>
              <a:rPr lang="en-US" sz="750" b="1" dirty="0">
                <a:solidFill>
                  <a:srgbClr val="8A3F5C"/>
                </a:solidFill>
              </a:rPr>
              <a:t>  최세종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703320" y="5705856"/>
            <a:ext cx="4343400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385366" y="5650992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553D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65760" y="587044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● 완료  </a:t>
            </a:r>
            <a:pPr indent="0" marL="0">
              <a:buNone/>
            </a:pPr>
            <a:r>
              <a:rPr lang="en-US" sz="800" b="1" dirty="0">
                <a:solidFill>
                  <a:schemeClr val="accent2"/>
                </a:solidFill>
              </a:rPr>
              <a:t>● 진행중  </a:t>
            </a:r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○ 예정  </a:t>
            </a:r>
            <a:pPr indent="0" marL="0">
              <a:buNone/>
            </a:pPr>
            <a:r>
              <a:rPr lang="en-US" sz="800" b="1" dirty="0">
                <a:solidFill>
                  <a:schemeClr val="accent6"/>
                </a:solidFill>
              </a:rPr>
              <a:t>◯ 빨간 테두리 = 크리티컬 패스  </a:t>
            </a:r>
            <a:pPr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굵은 글씨 = 최세종 담당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183880" y="896112"/>
            <a:ext cx="3639312" cy="4937760"/>
          </a:xfrm>
          <a:prstGeom prst="roundRect">
            <a:avLst>
              <a:gd name="adj" fmla="val 1508"/>
            </a:avLst>
          </a:prstGeom>
          <a:solidFill>
            <a:schemeClr val="tx2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8366760" y="96926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크리티컬 패스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412480" y="1408176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553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485632" y="1554480"/>
            <a:ext cx="0" cy="182880"/>
          </a:xfrm>
          <a:prstGeom prst="line">
            <a:avLst/>
          </a:prstGeom>
          <a:noFill/>
          <a:ln w="12700">
            <a:solidFill>
              <a:srgbClr val="C8553D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8686800" y="135331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10/6  </a:t>
            </a:r>
            <a:pPr indent="0" marL="0">
              <a:buNone/>
            </a:pPr>
            <a:r>
              <a:rPr lang="en-US" sz="900" dirty="0">
                <a:solidFill>
                  <a:srgbClr val="DCE3EE"/>
                </a:solidFill>
              </a:rPr>
              <a:t>주제·패널 확정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412480" y="1737360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553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485632" y="1883664"/>
            <a:ext cx="0" cy="182880"/>
          </a:xfrm>
          <a:prstGeom prst="line">
            <a:avLst/>
          </a:prstGeom>
          <a:noFill/>
          <a:ln w="12700">
            <a:solidFill>
              <a:srgbClr val="C8553D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8686800" y="168249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10/8  </a:t>
            </a:r>
            <a:pPr indent="0" marL="0">
              <a:buNone/>
            </a:pPr>
            <a:r>
              <a:rPr lang="en-US" sz="900" dirty="0">
                <a:solidFill>
                  <a:srgbClr val="DCE3EE"/>
                </a:solidFill>
              </a:rPr>
              <a:t>특전 설정 · 소재 기획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8412480" y="2066544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553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485632" y="2212848"/>
            <a:ext cx="0" cy="182880"/>
          </a:xfrm>
          <a:prstGeom prst="line">
            <a:avLst/>
          </a:prstGeom>
          <a:noFill/>
          <a:ln w="12700">
            <a:solidFill>
              <a:srgbClr val="C8553D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686800" y="201168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10/16  </a:t>
            </a:r>
            <a:pPr indent="0" marL="0">
              <a:buNone/>
            </a:pPr>
            <a:r>
              <a:rPr lang="en-US" sz="900" dirty="0">
                <a:solidFill>
                  <a:srgbClr val="DCE3EE"/>
                </a:solidFill>
              </a:rPr>
              <a:t>특전 제작 · 소재 디자인 · DM 문안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8412480" y="2395728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553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485632" y="2542032"/>
            <a:ext cx="0" cy="182880"/>
          </a:xfrm>
          <a:prstGeom prst="line">
            <a:avLst/>
          </a:prstGeom>
          <a:noFill/>
          <a:ln w="12700">
            <a:solidFill>
              <a:srgbClr val="C8553D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8686800" y="234086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10/21  </a:t>
            </a:r>
            <a:pPr indent="0" marL="0">
              <a:buNone/>
            </a:pPr>
            <a:r>
              <a:rPr lang="en-US" sz="900" dirty="0">
                <a:solidFill>
                  <a:srgbClr val="DCE3EE"/>
                </a:solidFill>
              </a:rPr>
              <a:t>랜딩 릴리즈 · DM 1차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8412480" y="272491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553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485632" y="2871216"/>
            <a:ext cx="0" cy="182880"/>
          </a:xfrm>
          <a:prstGeom prst="line">
            <a:avLst/>
          </a:prstGeom>
          <a:noFill/>
          <a:ln w="12700">
            <a:solidFill>
              <a:srgbClr val="C8553D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8686800" y="267004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10/30  </a:t>
            </a:r>
            <a:pPr indent="0" marL="0">
              <a:buNone/>
            </a:pPr>
            <a:r>
              <a:rPr lang="en-US" sz="900" dirty="0">
                <a:solidFill>
                  <a:srgbClr val="DCE3EE"/>
                </a:solidFill>
              </a:rPr>
              <a:t>원고·발표자료 · 리허설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412480" y="3054096"/>
            <a:ext cx="146304" cy="146304"/>
          </a:xfrm>
          <a:prstGeom prst="ellipse">
            <a:avLst/>
          </a:prstGeom>
          <a:solidFill>
            <a:srgbClr val="C8553D"/>
          </a:solidFill>
          <a:ln w="15875">
            <a:solidFill>
              <a:srgbClr val="C8553D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8686800" y="299923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11/4  </a:t>
            </a:r>
            <a:pPr indent="0" marL="0">
              <a:buNone/>
            </a:pPr>
            <a:r>
              <a:rPr lang="en-US" sz="900" dirty="0">
                <a:solidFill>
                  <a:srgbClr val="DCE3EE"/>
                </a:solidFill>
              </a:rPr>
              <a:t>방송 D-Day</a:t>
            </a:r>
            <a:endParaRPr lang="en-US" sz="900" dirty="0"/>
          </a:p>
        </p:txBody>
      </p:sp>
      <p:sp>
        <p:nvSpPr>
          <p:cNvPr id="101" name="Text 99"/>
          <p:cNvSpPr txBox="1"/>
          <p:nvPr/>
        </p:nvSpPr>
        <p:spPr>
          <a:xfrm>
            <a:off x="8366760" y="341071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리스크와 대응</a:t>
            </a:r>
            <a:endParaRPr lang="en-US" sz="1000" dirty="0"/>
          </a:p>
        </p:txBody>
      </p:sp>
      <p:sp>
        <p:nvSpPr>
          <p:cNvPr id="102" name="Text 100"/>
          <p:cNvSpPr txBox="1"/>
          <p:nvPr/>
        </p:nvSpPr>
        <p:spPr>
          <a:xfrm>
            <a:off x="8366760" y="3712464"/>
            <a:ext cx="32735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DCE3EE"/>
                </a:solidFill>
              </a:rPr>
              <a:t>주제·패널이 10/6보다 늦어지면 특전 → 소재 → DM이 연쇄 지연 → 오늘 회의에서 주제 확정</a:t>
            </a:r>
            <a:endParaRPr lang="en-US" sz="8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DCE3EE"/>
                </a:solidFill>
              </a:rPr>
              <a:t>DM 1차(10/21)는 랜딩 릴리즈와 같은 날 → 10/19 개발 완료 후 신청 테스트 1회 필수</a:t>
            </a:r>
            <a:endParaRPr lang="en-US" sz="8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DCE3EE"/>
                </a:solidFill>
              </a:rPr>
              <a:t>특전 원고·비주얼 기획은 날짜 미정 → 10/13까지로 지정 제안</a:t>
            </a:r>
            <a:endParaRPr lang="en-US" sz="8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DCE3EE"/>
                </a:solidFill>
              </a:rPr>
              <a:t>10/12 주에 팀 전체 업무 39건 집중 → 디자인 요청 순서 사전 합의</a:t>
            </a:r>
            <a:endParaRPr lang="en-US" sz="850" dirty="0"/>
          </a:p>
        </p:txBody>
      </p:sp>
      <p:sp>
        <p:nvSpPr>
          <p:cNvPr id="103" name="Text 101"/>
          <p:cNvSpPr txBox="1"/>
          <p:nvPr/>
        </p:nvSpPr>
        <p:spPr>
          <a:xfrm>
            <a:off x="365760" y="649224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출처: [4Q] Items통합 B~H열 에듀토크 24개 업무(10/6 기준) · ‘원고·발표자료’, ‘소재 디자인·DM 문안’, ‘DM 1·2차’ 등 같은 날짜 업무는 한 줄로 묶음 · 크리티컬 패스는 시트 비고의 선후관계 기준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에듀토크 상세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   ② 방송 운영안 (60분 기준, 안)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2560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담당 최세종 · 방송 11/4(수)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749040" cy="310896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8961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방송 개요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37490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063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11/4(수) — 방송 시간 확정 필요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이병훈TV 라이브 (컨셉 대표님 보고 후 조율)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이병훈 소장 + CMS 발표자 (10/6 확정 예정)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10/6 확정 예정 (홍혜숙·석다혜) — 아래 후보 참고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주제 확정 후 설정(10/8) → 제작(10/16)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리허설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10/30 대본 리딩·리허설 → 11/2 최종 점검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063240"/>
            <a:ext cx="3749040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3063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주제 후보 (안)</a:t>
            </a:r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  최종 선정은 주제 기획 담당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3547872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2027 특목·자사고 입시 변화와 겨울방학 수학 로드맵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특사모·자사고 설명회와 연결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" y="4233672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1148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B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초·중 수학, 겨울방학 3개월이 1년을 결정한다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FIT·MATHMILE 체험수업과 연결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11480" y="4919472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11480" y="4919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4846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이병훈 소장이 답하는 우리 아이 수학 진로 Q&amp;A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채팅 참여·설문 응답 극대화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43400" y="896112"/>
            <a:ext cx="7479792" cy="310896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434840" y="896112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큐시트 (안)</a:t>
            </a:r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  분 단위 · ▼ 표시는 신청·설문 링크 노출(CTA) 시점</a:t>
            </a:r>
            <a:endParaRPr lang="en-US" sz="900" dirty="0"/>
          </a:p>
        </p:txBody>
      </p:sp>
      <p:sp>
        <p:nvSpPr>
          <p:cNvPr id="20" name="cue-오프닝"/>
          <p:cNvSpPr/>
          <p:nvPr/>
        </p:nvSpPr>
        <p:spPr>
          <a:xfrm>
            <a:off x="4343400" y="1847088"/>
            <a:ext cx="623316" cy="566928"/>
          </a:xfrm>
          <a:prstGeom prst="rect">
            <a:avLst/>
          </a:prstGeom>
          <a:solidFill>
            <a:schemeClr val="accent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89120" y="1847088"/>
            <a:ext cx="5318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오프닝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4343400" y="2459736"/>
            <a:ext cx="6233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패널 소개 · 방송 안내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4160520" y="16276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0</a:t>
            </a:r>
            <a:endParaRPr lang="en-US" sz="750" dirty="0"/>
          </a:p>
        </p:txBody>
      </p:sp>
      <p:sp>
        <p:nvSpPr>
          <p:cNvPr id="24" name="cue-세션 1 · 입시 트렌드"/>
          <p:cNvSpPr/>
          <p:nvPr/>
        </p:nvSpPr>
        <p:spPr>
          <a:xfrm>
            <a:off x="4966716" y="1847088"/>
            <a:ext cx="1869948" cy="566928"/>
          </a:xfrm>
          <a:prstGeom prst="rect">
            <a:avLst/>
          </a:prstGeom>
          <a:solidFill>
            <a:schemeClr val="accent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12436" y="1847088"/>
            <a:ext cx="17785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세션 1 · 입시 트렌드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966716" y="2459736"/>
            <a:ext cx="18699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이병훈 소장</a:t>
            </a:r>
            <a:endParaRPr lang="en-US" sz="750" dirty="0"/>
          </a:p>
        </p:txBody>
      </p:sp>
      <p:sp>
        <p:nvSpPr>
          <p:cNvPr id="27" name="Text 24"/>
          <p:cNvSpPr txBox="1"/>
          <p:nvPr/>
        </p:nvSpPr>
        <p:spPr>
          <a:xfrm>
            <a:off x="4783836" y="16276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5</a:t>
            </a:r>
            <a:endParaRPr lang="en-US" sz="750" dirty="0"/>
          </a:p>
        </p:txBody>
      </p:sp>
      <p:sp>
        <p:nvSpPr>
          <p:cNvPr id="28" name="cue-세션 2 · 겨울방학 로드맵"/>
          <p:cNvSpPr/>
          <p:nvPr/>
        </p:nvSpPr>
        <p:spPr>
          <a:xfrm>
            <a:off x="6836664" y="1847088"/>
            <a:ext cx="1869948" cy="566928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82384" y="1847088"/>
            <a:ext cx="17785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세션 2 · 겨울방학 로드맵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836664" y="2459736"/>
            <a:ext cx="18699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CMS 발표자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6653784" y="16276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20</a:t>
            </a:r>
            <a:endParaRPr lang="en-US" sz="750" dirty="0"/>
          </a:p>
        </p:txBody>
      </p:sp>
      <p:sp>
        <p:nvSpPr>
          <p:cNvPr id="32" name="cue-특전 안내"/>
          <p:cNvSpPr/>
          <p:nvPr/>
        </p:nvSpPr>
        <p:spPr>
          <a:xfrm>
            <a:off x="8706612" y="1847088"/>
            <a:ext cx="623316" cy="566928"/>
          </a:xfrm>
          <a:prstGeom prst="rect">
            <a:avLst/>
          </a:prstGeom>
          <a:solidFill>
            <a:schemeClr val="accent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752332" y="1847088"/>
            <a:ext cx="5318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특전 안내</a:t>
            </a:r>
            <a:endParaRPr lang="en-US" sz="750" dirty="0"/>
          </a:p>
        </p:txBody>
      </p:sp>
      <p:sp>
        <p:nvSpPr>
          <p:cNvPr id="34" name="Text 31"/>
          <p:cNvSpPr txBox="1"/>
          <p:nvPr/>
        </p:nvSpPr>
        <p:spPr>
          <a:xfrm>
            <a:off x="8706612" y="2459736"/>
            <a:ext cx="6233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특전 수령 = 설문 응답</a:t>
            </a:r>
            <a:endParaRPr lang="en-US" sz="750" dirty="0"/>
          </a:p>
        </p:txBody>
      </p:sp>
      <p:sp>
        <p:nvSpPr>
          <p:cNvPr id="35" name="Text 32"/>
          <p:cNvSpPr txBox="1"/>
          <p:nvPr/>
        </p:nvSpPr>
        <p:spPr>
          <a:xfrm>
            <a:off x="8523732" y="16276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35</a:t>
            </a:r>
            <a:endParaRPr lang="en-US" sz="750" dirty="0"/>
          </a:p>
        </p:txBody>
      </p:sp>
      <p:sp>
        <p:nvSpPr>
          <p:cNvPr id="36" name="cue-실시간 Q&amp;A"/>
          <p:cNvSpPr/>
          <p:nvPr/>
        </p:nvSpPr>
        <p:spPr>
          <a:xfrm>
            <a:off x="9329928" y="1847088"/>
            <a:ext cx="1869948" cy="566928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375648" y="1847088"/>
            <a:ext cx="17785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실시간 Q&amp;A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9329928" y="2459736"/>
            <a:ext cx="18699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채팅 질문 큐레이션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9147048" y="16276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40</a:t>
            </a:r>
            <a:endParaRPr lang="en-US" sz="750" dirty="0"/>
          </a:p>
        </p:txBody>
      </p:sp>
      <p:sp>
        <p:nvSpPr>
          <p:cNvPr id="40" name="cue-클로징"/>
          <p:cNvSpPr/>
          <p:nvPr/>
        </p:nvSpPr>
        <p:spPr>
          <a:xfrm>
            <a:off x="11199876" y="1847088"/>
            <a:ext cx="623316" cy="566928"/>
          </a:xfrm>
          <a:prstGeom prst="rect">
            <a:avLst/>
          </a:prstGeom>
          <a:solidFill>
            <a:schemeClr val="accent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1245596" y="1847088"/>
            <a:ext cx="5318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클로징</a:t>
            </a:r>
            <a:endParaRPr lang="en-US" sz="750" dirty="0"/>
          </a:p>
        </p:txBody>
      </p:sp>
      <p:sp>
        <p:nvSpPr>
          <p:cNvPr id="42" name="Text 39"/>
          <p:cNvSpPr txBox="1"/>
          <p:nvPr/>
        </p:nvSpPr>
        <p:spPr>
          <a:xfrm>
            <a:off x="11199876" y="2459736"/>
            <a:ext cx="6233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인뎁스·체험 신청 안내</a:t>
            </a:r>
            <a:endParaRPr lang="en-US" sz="750" dirty="0"/>
          </a:p>
        </p:txBody>
      </p:sp>
      <p:sp>
        <p:nvSpPr>
          <p:cNvPr id="43" name="Text 40"/>
          <p:cNvSpPr txBox="1"/>
          <p:nvPr/>
        </p:nvSpPr>
        <p:spPr>
          <a:xfrm>
            <a:off x="11016996" y="16276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55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11640312" y="16276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60</a:t>
            </a:r>
            <a:endParaRPr lang="en-US" sz="750" dirty="0"/>
          </a:p>
        </p:txBody>
      </p:sp>
      <p:sp>
        <p:nvSpPr>
          <p:cNvPr id="45" name="Text 42"/>
          <p:cNvSpPr txBox="1"/>
          <p:nvPr/>
        </p:nvSpPr>
        <p:spPr>
          <a:xfrm>
            <a:off x="8569452" y="1417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▼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7883652" y="12435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6"/>
                </a:solidFill>
              </a:rPr>
              <a:t>CTA ① 특전·설문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9816084" y="1417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▼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9130284" y="12435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6"/>
                </a:solidFill>
              </a:rPr>
              <a:t>CTA ② 상담 신청</a:t>
            </a:r>
            <a:endParaRPr lang="en-US" sz="750" dirty="0"/>
          </a:p>
        </p:txBody>
      </p:sp>
      <p:sp>
        <p:nvSpPr>
          <p:cNvPr id="49" name="Text 46"/>
          <p:cNvSpPr txBox="1"/>
          <p:nvPr/>
        </p:nvSpPr>
        <p:spPr>
          <a:xfrm>
            <a:off x="11312042" y="1417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▼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10177272" y="12435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chemeClr val="accent6"/>
                </a:solidFill>
              </a:rPr>
              <a:t>CTA ③ 인뎁스·체험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4343400" y="2971800"/>
            <a:ext cx="3657600" cy="310896"/>
          </a:xfrm>
          <a:prstGeom prst="roundRect">
            <a:avLst>
              <a:gd name="adj" fmla="val 17647"/>
            </a:avLst>
          </a:prstGeom>
          <a:solidFill>
            <a:schemeClr val="accent3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4434840" y="29718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라이브 채팅 운영</a:t>
            </a:r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  최세종 · 10/14 대응방안 기획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4434840" y="33832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진행 보조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공지 고정, 신청·설문 링크 3회 게시, 방송 흐름 안내</a:t>
            </a:r>
            <a:endParaRPr lang="en-US" sz="850" dirty="0"/>
          </a:p>
        </p:txBody>
      </p:sp>
      <p:sp>
        <p:nvSpPr>
          <p:cNvPr id="54" name="Text 51"/>
          <p:cNvSpPr txBox="1"/>
          <p:nvPr/>
        </p:nvSpPr>
        <p:spPr>
          <a:xfrm>
            <a:off x="4434840" y="395020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질문 큐레이터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질문을 유형별로 분류 → Q&amp;A용 상위 질문 전달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4434840" y="451713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상담 연결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개별 상담성 질문 → 상담 신청 링크로 유도, 연락처는 채팅에서 받지 않음</a:t>
            </a:r>
            <a:endParaRPr lang="en-US" sz="850" dirty="0"/>
          </a:p>
        </p:txBody>
      </p:sp>
      <p:sp>
        <p:nvSpPr>
          <p:cNvPr id="56" name="Text 53"/>
          <p:cNvSpPr txBox="1"/>
          <p:nvPr/>
        </p:nvSpPr>
        <p:spPr>
          <a:xfrm>
            <a:off x="4434840" y="5120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사전 준비: 예상 질문 FAQ 20개 · 금지 표현(과장·비교 광고) 가이드 · 부정 이슈 발생 시 보고 라인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8165592" y="2971800"/>
            <a:ext cx="365760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8257032" y="29718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D-Day 체크리스트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8257032" y="33832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☐  D-1 송출 테스트·링크 점검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☐  랜딩 신청 마감 시간·안내 문구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☐  특전 다운로드 링크·자동 메시지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☐  설문 응답 → 시트 저장 확인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☐  채팅 FAQ·링크 문구 사전 작성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☐  방송 종료 후 다시보기 공개 여부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☐  D+1 후속 알림톡 예약 발송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365760" y="5888736"/>
            <a:ext cx="11457432" cy="548640"/>
          </a:xfrm>
          <a:prstGeom prst="roundRect">
            <a:avLst>
              <a:gd name="adj" fmla="val 10000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02920" y="588873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회의 결정 필요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1691640" y="5888736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① 주제 A·B·C 중 선택(또는 수정)   ② 방송 시간대   ③ 큐시트 시간 배분·CMS 발표자   ④ 채팅 운영 인원(역할 3개)   ⑤ 다시보기 공개 여부·기간</a:t>
            </a:r>
            <a:endParaRPr lang="en-US" sz="900" dirty="0"/>
          </a:p>
        </p:txBody>
      </p:sp>
      <p:sp>
        <p:nvSpPr>
          <p:cNvPr id="63" name="Text 60"/>
          <p:cNvSpPr txBox="1"/>
          <p:nvPr/>
        </p:nvSpPr>
        <p:spPr>
          <a:xfrm>
            <a:off x="365760" y="649224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시트 기준: 송출 채널·패널·주제 일정, 특전·리허설 일정, 라이브 채팅 대응 업무 · 큐시트·주제 후보·채팅 역할·체크리스트는 회의 논의용 제안(안)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에듀토크 상세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   ③ 모객 시퀀스 · 신청 이후 전환 설계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2560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담당 최세종 · 방송 11/4(수)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11457432" cy="310896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89611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메시지·홍보 시퀀스</a:t>
            </a:r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  ● 시트 확정   ○ 추가 제안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881360" cy="0"/>
          </a:xfrm>
          <a:prstGeom prst="line">
            <a:avLst/>
          </a:prstGeom>
          <a:noFill/>
          <a:ln w="19050">
            <a:solidFill>
              <a:srgbClr val="1F2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44184" y="2084832"/>
            <a:ext cx="73152" cy="402336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8" name="Shape 6"/>
          <p:cNvSpPr/>
          <p:nvPr/>
        </p:nvSpPr>
        <p:spPr>
          <a:xfrm>
            <a:off x="1171448" y="2212848"/>
            <a:ext cx="146304" cy="146304"/>
          </a:xfrm>
          <a:prstGeom prst="ellipse">
            <a:avLst/>
          </a:prstGeom>
          <a:solidFill>
            <a:srgbClr val="1F2A44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44600" y="1865376"/>
            <a:ext cx="0" cy="329184"/>
          </a:xfrm>
          <a:prstGeom prst="line">
            <a:avLst/>
          </a:prstGeom>
          <a:noFill/>
          <a:ln w="6350">
            <a:solidFill>
              <a:srgbClr val="9AA1A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98880" y="14813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10/19 콘텐츠 게시·광고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채널별 순차 게시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75968" y="2212848"/>
            <a:ext cx="146304" cy="146304"/>
          </a:xfrm>
          <a:prstGeom prst="ellipse">
            <a:avLst/>
          </a:prstGeom>
          <a:solidFill>
            <a:srgbClr val="1F2A44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49120" y="2377440"/>
            <a:ext cx="0" cy="329184"/>
          </a:xfrm>
          <a:prstGeom prst="line">
            <a:avLst/>
          </a:prstGeom>
          <a:noFill/>
          <a:ln w="6350">
            <a:solidFill>
              <a:srgbClr val="9AA1A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03400" y="27249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10/21 랜딩 오픈·DM 1차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D-14 예열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91788" y="2212848"/>
            <a:ext cx="146304" cy="146304"/>
          </a:xfrm>
          <a:prstGeom prst="ellipse">
            <a:avLst/>
          </a:prstGeom>
          <a:solidFill>
            <a:srgbClr val="1F2A44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64940" y="1865376"/>
            <a:ext cx="0" cy="329184"/>
          </a:xfrm>
          <a:prstGeom prst="line">
            <a:avLst/>
          </a:prstGeom>
          <a:noFill/>
          <a:ln w="6350">
            <a:solidFill>
              <a:srgbClr val="9AA1A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19220" y="14813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10/28 DM 2차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D-7 리마인드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00828" y="2212848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73980" y="2377440"/>
            <a:ext cx="0" cy="329184"/>
          </a:xfrm>
          <a:prstGeom prst="line">
            <a:avLst/>
          </a:prstGeom>
          <a:noFill/>
          <a:ln w="6350">
            <a:solidFill>
              <a:srgbClr val="9AA1A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8260" y="27249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11/1 D-3 알림톡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특전 미리보기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05348" y="2212848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78500" y="1463040"/>
            <a:ext cx="0" cy="731520"/>
          </a:xfrm>
          <a:prstGeom prst="line">
            <a:avLst/>
          </a:prstGeom>
          <a:noFill/>
          <a:ln w="6350">
            <a:solidFill>
              <a:srgbClr val="9AA1A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32780" y="10789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11/3 D-1 알림톡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시청 링크·시간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07608" y="2212848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2377440"/>
            <a:ext cx="0" cy="731520"/>
          </a:xfrm>
          <a:prstGeom prst="line">
            <a:avLst/>
          </a:prstGeom>
          <a:noFill/>
          <a:ln w="6350">
            <a:solidFill>
              <a:srgbClr val="9AA1A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31272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11/4 방송 당일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2시간 전 링크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309868" y="2212848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83020" y="1865376"/>
            <a:ext cx="0" cy="329184"/>
          </a:xfrm>
          <a:prstGeom prst="line">
            <a:avLst/>
          </a:prstGeom>
          <a:noFill/>
          <a:ln w="6350">
            <a:solidFill>
              <a:srgbClr val="9AA1A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37300" y="14813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11/5 D+1 다시보기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설문 미응답자 재안내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612128" y="2212848"/>
            <a:ext cx="146304" cy="146304"/>
          </a:xfrm>
          <a:prstGeom prst="ellipse">
            <a:avLst/>
          </a:prstGeom>
          <a:solidFill>
            <a:srgbClr val="1F2A44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85280" y="2377440"/>
            <a:ext cx="0" cy="329184"/>
          </a:xfrm>
          <a:prstGeom prst="line">
            <a:avLst/>
          </a:prstGeom>
          <a:noFill/>
          <a:ln w="6350">
            <a:solidFill>
              <a:srgbClr val="9AA1A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39560" y="27249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11/6 인뎁스 알림톡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에듀토크 종료 후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843768" y="2212848"/>
            <a:ext cx="146304" cy="146304"/>
          </a:xfrm>
          <a:prstGeom prst="ellipse">
            <a:avLst/>
          </a:prstGeom>
          <a:solidFill>
            <a:srgbClr val="1F2A44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16920" y="1865376"/>
            <a:ext cx="0" cy="329184"/>
          </a:xfrm>
          <a:prstGeom prst="line">
            <a:avLst/>
          </a:prstGeom>
          <a:noFill/>
          <a:ln w="6350">
            <a:solidFill>
              <a:srgbClr val="9AA1A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36760" y="14813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11/20 체험수업 신청 마감</a:t>
            </a:r>
            <a:endParaRPr lang="en-US" sz="800" dirty="0"/>
          </a:p>
          <a:p>
            <a:pPr algn="r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MATHMILE·FIT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0" y="272491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12월 2주 입학테스트 →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3611880"/>
            <a:ext cx="640080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200" y="361188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설문 → 세그먼트 → 후속 경로</a:t>
            </a:r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  설문 설계 10/16 · 최세종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02336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설문 문항 (안)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1. 자녀 학년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2. 목표 학교 유형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3. 현재 수학 학습 방식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4. 관심 프로그램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5. 상담 희망 여부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6. 궁금한 점 (주관식)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2011680" y="4617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331720" y="4023360"/>
            <a:ext cx="141732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377440" y="402336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상담 희망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3840480" y="402336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▶  방송 후 24~48h 내 상담콜 → 입테 예약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331720" y="4407408"/>
            <a:ext cx="14173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377440" y="440740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특목·자사고 목표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3840480" y="44074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▶  인뎁스 세미나 · 특사모 면접 컨설팅 안내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331720" y="4791456"/>
            <a:ext cx="14173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2377440" y="479145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MATHMILE 관심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3840480" y="479145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▶  MATHMILE 체험수업 (신청 ~11/20)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31720" y="5175504"/>
            <a:ext cx="14173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377440" y="517550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FIT 관심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3840480" y="51755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▶  FIT 체험수업 (매쏠로지2 체험계정)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331720" y="5559552"/>
            <a:ext cx="141732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2377440" y="55595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기타·미응답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3840480" y="555955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▶  D+1 다시보기 + 아샘·교과 알림톡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949440" y="3611880"/>
            <a:ext cx="4873752" cy="310896"/>
          </a:xfrm>
          <a:prstGeom prst="roundRect">
            <a:avLst>
              <a:gd name="adj" fmla="val 17647"/>
            </a:avLst>
          </a:prstGeom>
          <a:solidFill>
            <a:schemeClr val="accent3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040880" y="3611880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성과 지표</a:t>
            </a:r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  목표는 회의에서 확정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949440" y="4023360"/>
            <a:ext cx="3639312" cy="237744"/>
          </a:xfrm>
          <a:prstGeom prst="rect">
            <a:avLst/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949440" y="4023360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노출·도달</a:t>
            </a:r>
            <a:pPr algn="ctr" indent="0" marL="0">
              <a:buNone/>
            </a:pPr>
            <a:r>
              <a:rPr lang="en-US" sz="750" dirty="0">
                <a:solidFill>
                  <a:schemeClr val="bg1"/>
                </a:solidFill>
              </a:rPr>
              <a:t>  광고·채널 리포트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10634472" y="4023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목표 ______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050024" y="4297680"/>
            <a:ext cx="3438144" cy="237744"/>
          </a:xfrm>
          <a:prstGeom prst="rect">
            <a:avLst/>
          </a:prstGeom>
          <a:solidFill>
            <a:schemeClr val="accent3">
              <a:alpha val="75000"/>
            </a:schemeClr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7050024" y="4297680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랜딩 방문</a:t>
            </a:r>
            <a:pPr algn="ctr" indent="0" marL="0">
              <a:buNone/>
            </a:pPr>
            <a:r>
              <a:rPr lang="en-US" sz="750" dirty="0">
                <a:solidFill>
                  <a:schemeClr val="bg1"/>
                </a:solidFill>
              </a:rPr>
              <a:t>  웹앱 방문 로그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10634472" y="42976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목표 ______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150608" y="4572000"/>
            <a:ext cx="3236976" cy="237744"/>
          </a:xfrm>
          <a:prstGeom prst="rect">
            <a:avLst/>
          </a:prstGeom>
          <a:solidFill>
            <a:schemeClr val="accent3">
              <a:alpha val="65000"/>
            </a:schemeClr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7150608" y="4572000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사전 신청</a:t>
            </a:r>
            <a:pPr algn="ctr" indent="0" marL="0">
              <a:buNone/>
            </a:pPr>
            <a:r>
              <a:rPr lang="en-US" sz="750" dirty="0">
                <a:solidFill>
                  <a:schemeClr val="bg1"/>
                </a:solidFill>
              </a:rPr>
              <a:t>  신청 DB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10634472" y="45720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목표 ______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251192" y="4846320"/>
            <a:ext cx="3035808" cy="237744"/>
          </a:xfrm>
          <a:prstGeom prst="rect">
            <a:avLst/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7251192" y="4846320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라이브 시청</a:t>
            </a:r>
            <a:pPr algn="ctr" indent="0" marL="0">
              <a:buNone/>
            </a:pPr>
            <a:r>
              <a:rPr lang="en-US" sz="750" dirty="0">
                <a:solidFill>
                  <a:schemeClr val="bg1"/>
                </a:solidFill>
              </a:rPr>
              <a:t>  이병훈TV 통계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10634472" y="4846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목표 ______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351776" y="5120640"/>
            <a:ext cx="2834640" cy="237744"/>
          </a:xfrm>
          <a:prstGeom prst="rect">
            <a:avLst/>
          </a:prstGeom>
          <a:solidFill>
            <a:schemeClr val="accent3">
              <a:alpha val="45000"/>
            </a:schemeClr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7351776" y="51206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설문 응답</a:t>
            </a:r>
            <a:pPr algn="ctr" indent="0" marL="0">
              <a:buNone/>
            </a:pPr>
            <a:r>
              <a:rPr lang="en-US" sz="750" dirty="0">
                <a:solidFill>
                  <a:schemeClr val="bg1"/>
                </a:solidFill>
              </a:rPr>
              <a:t>  설문 시트</a:t>
            </a:r>
            <a:endParaRPr lang="en-US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10634472" y="5120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목표 ______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452360" y="5394960"/>
            <a:ext cx="2633472" cy="237744"/>
          </a:xfrm>
          <a:prstGeom prst="rect">
            <a:avLst/>
          </a:prstGeom>
          <a:solidFill>
            <a:schemeClr val="accent3">
              <a:alpha val="35000"/>
            </a:schemeClr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7452360" y="53949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후속 신청</a:t>
            </a:r>
            <a:pPr algn="ctr" indent="0" marL="0">
              <a:buNone/>
            </a:pPr>
            <a:r>
              <a:rPr lang="en-US" sz="750" dirty="0">
                <a:solidFill>
                  <a:schemeClr val="bg1"/>
                </a:solidFill>
              </a:rPr>
              <a:t>  인뎁스·체험 신청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10634472" y="53949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목표 ______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552944" y="5669280"/>
            <a:ext cx="2432304" cy="237744"/>
          </a:xfrm>
          <a:prstGeom prst="rect">
            <a:avLst/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7552944" y="566928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입테 응시 · 등록</a:t>
            </a:r>
            <a:pPr algn="ctr" indent="0" marL="0">
              <a:buNone/>
            </a:pPr>
            <a:r>
              <a:rPr lang="en-US" sz="750" dirty="0">
                <a:solidFill>
                  <a:schemeClr val="bg1"/>
                </a:solidFill>
              </a:rPr>
              <a:t>  입테 명단·등록</a:t>
            </a:r>
            <a:endParaRPr lang="en-US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10634472" y="56692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목표 ______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65760" y="5989320"/>
            <a:ext cx="11457432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502920" y="5989320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핵심 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에듀토크는 신청 DB를 모으는 것으로 끝나지 않음 → 설문 응답으로 관심사를 나눠 인뎁스·체험수업·특사모로 바로 넘기고, 상담 희망자는 48시간 안에 연락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365760" y="649224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● 시트 확정: 콘텐츠 게시 10/19 · 랜딩·DM 1차 10/21 · DM 2차(D-7) · 인뎁스 알림톡(에듀토크 종료 후) · 체험수업 신청 관리 ~11/20 / ○ 제안: D-3·D-1·당일·D+1 알림톡, 설문 문항, 세그먼트 경로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MS Winter">
  <a:themeElements>
    <a:clrScheme name="CMS Winter">
      <a:dk1>
        <a:srgbClr val="1B2130"/>
      </a:dk1>
      <a:lt1>
        <a:srgbClr val="FFFFFF"/>
      </a:lt1>
      <a:dk2>
        <a:srgbClr val="1F2A44"/>
      </a:dk2>
      <a:lt2>
        <a:srgbClr val="EEF1F5"/>
      </a:lt2>
      <a:accent1>
        <a:srgbClr val="2A7A72"/>
      </a:accent1>
      <a:accent2>
        <a:srgbClr val="A8640F"/>
      </a:accent2>
      <a:accent3>
        <a:srgbClr val="8A3F5C"/>
      </a:accent3>
      <a:accent4>
        <a:srgbClr val="3C5A91"/>
      </a:accent4>
      <a:accent5>
        <a:srgbClr val="5B6472"/>
      </a:accent5>
      <a:accent6>
        <a:srgbClr val="C8553D"/>
      </a:accent6>
      <a:hlink>
        <a:srgbClr val="3C5A91"/>
      </a:hlink>
      <a:folHlink>
        <a:srgbClr val="8A3F5C"/>
      </a:folHlink>
    </a:clrScheme>
    <a:fontScheme name="CMS Winter">
      <a:majorFont>
        <a:latin typeface="Pretendard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겨울학기 모객 회의 자료</dc:title>
  <dc:subject>PptxGenJS Presentation</dc:subject>
  <dc:creator>PptxGenJS</dc:creator>
  <cp:lastModifiedBy>PptxGenJS</cp:lastModifiedBy>
  <cp:revision>1</cp:revision>
  <dcterms:created xsi:type="dcterms:W3CDTF">2026-10-06T09:41:53Z</dcterms:created>
  <dcterms:modified xsi:type="dcterms:W3CDTF">2026-10-06T09:41:53Z</dcterms:modified>
</cp:coreProperties>
</file>